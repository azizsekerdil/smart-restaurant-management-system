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920240"/>
            <a:ext cx="1087495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 b="1">
                <a:solidFill>
                  <a:srgbClr val="0B1220"/>
                </a:solidFill>
                <a:latin typeface="Segoe UI"/>
              </a:rPr>
              <a:t>Smart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063240"/>
            <a:ext cx="1087495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0">
                <a:solidFill>
                  <a:srgbClr val="5B6B80"/>
                </a:solidFill>
                <a:latin typeface="Segoe UI"/>
              </a:rPr>
              <a:t>Restaurant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79476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>
                <a:solidFill>
                  <a:srgbClr val="26303F"/>
                </a:solidFill>
                <a:latin typeface="Segoe UI"/>
              </a:rPr>
              <a:t>From the order to the kitchen, from stock to reports — the whole restaurant in one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074920"/>
            <a:ext cx="1924812" cy="41148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6303F"/>
                </a:solidFill>
                <a:latin typeface="Segoe UI"/>
              </a:rPr>
              <a:t>Single-file 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11196" y="5074920"/>
            <a:ext cx="1540764" cy="41148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6303F"/>
                </a:solidFill>
                <a:latin typeface="Segoe UI"/>
              </a:rPr>
              <a:t>Works offline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5074920"/>
            <a:ext cx="1924812" cy="41148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6303F"/>
                </a:solidFill>
                <a:latin typeface="Segoe UI"/>
              </a:rPr>
              <a:t>Turkish /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The problem it solves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B6B80"/>
                </a:solidFill>
                <a:latin typeface="Segoe UI"/>
              </a:rPr>
              <a:t>Most restaurants run on three separate things: a till program, paper in the kitchen, and a spreadsheet for stock.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874959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A gap between the check and the kitchen — wrong and late orders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Finding out an ingredient has run out only when the order is placed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Real profit stays invisible because recipe cost is unknown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Reports collected at month end, too late to act on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No trace of who voided or discounted 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The system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B6B80"/>
                </a:solidFill>
                <a:latin typeface="Segoe UI"/>
              </a:rPr>
              <a:t>One application, one single-file install.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4508C"/>
                </a:solidFill>
                <a:latin typeface="Segoe UI"/>
              </a:rPr>
              <a:t>14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1220"/>
                </a:solidFill>
                <a:latin typeface="Segoe UI"/>
              </a:rPr>
              <a:t>modules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5B6B80"/>
                </a:solidFill>
                <a:latin typeface="Segoe UI"/>
              </a:rPr>
              <a:t>from POS to backups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31971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4508C"/>
                </a:solidFill>
                <a:latin typeface="Segoe UI"/>
              </a:rPr>
              <a:t>12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1220"/>
                </a:solidFill>
                <a:latin typeface="Segoe UI"/>
              </a:rPr>
              <a:t>user roles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5B6B80"/>
                </a:solidFill>
                <a:latin typeface="Segoe UI"/>
              </a:rPr>
              <a:t>62 separate permissions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5575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4508C"/>
                </a:solidFill>
                <a:latin typeface="Segoe UI"/>
              </a:rPr>
              <a:t>486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1220"/>
                </a:solidFill>
                <a:latin typeface="Segoe UI"/>
              </a:rPr>
              <a:t>automated tests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5B6B80"/>
                </a:solidFill>
                <a:latin typeface="Segoe UI"/>
              </a:rPr>
              <a:t>run on every release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9179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4508C"/>
                </a:solidFill>
                <a:latin typeface="Segoe UI"/>
              </a:rPr>
              <a:t>2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1220"/>
                </a:solidFill>
                <a:latin typeface="Segoe UI"/>
              </a:rPr>
              <a:t>languages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5B6B80"/>
                </a:solidFill>
                <a:latin typeface="Segoe UI"/>
              </a:rPr>
              <a:t>Turkish and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B6B80"/>
                </a:solidFill>
                <a:latin typeface="Segoe UI"/>
              </a:rPr>
              <a:t>Each module stands on its own; together they produce the real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0B1220"/>
                </a:solidFill>
                <a:latin typeface="Segoe UI"/>
              </a:rPr>
              <a:t>POS and orders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5B6B80"/>
                </a:solidFill>
                <a:latin typeface="Segoe UI"/>
              </a:rPr>
              <a:t>Touch sales, split checks, multiple payments, coupons and discounts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2827" y="2148840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0B1220"/>
                </a:solidFill>
                <a:latin typeface="Segoe UI"/>
              </a:rPr>
              <a:t>Kitchen display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5B6B80"/>
                </a:solidFill>
                <a:latin typeface="Segoe UI"/>
              </a:rPr>
              <a:t>Live ticket flow, split by station, time alerts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7287" y="2148840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0B1220"/>
                </a:solidFill>
                <a:latin typeface="Segoe UI"/>
              </a:rPr>
              <a:t>Stock and recipes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5B6B80"/>
                </a:solidFill>
                <a:latin typeface="Segoe UI"/>
              </a:rPr>
              <a:t>Batch tracking, FIFO/FEFO, automatic deduction, waste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51747" y="2148840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0B1220"/>
                </a:solidFill>
                <a:latin typeface="Segoe UI"/>
              </a:rPr>
              <a:t>Floor and reservations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5B6B80"/>
                </a:solidFill>
                <a:latin typeface="Segoe UI"/>
              </a:rPr>
              <a:t>Table plan, merging, waiting 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465576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0B1220"/>
                </a:solidFill>
                <a:latin typeface="Segoe UI"/>
              </a:rPr>
              <a:t>Customers and loyalty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5B6B80"/>
                </a:solidFill>
                <a:latin typeface="Segoe UI"/>
              </a:rPr>
              <a:t>Segments, points, campaigns, consent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2827" y="3465576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0B1220"/>
                </a:solidFill>
                <a:latin typeface="Segoe UI"/>
              </a:rPr>
              <a:t>Staff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5B6B80"/>
                </a:solidFill>
                <a:latin typeface="Segoe UI"/>
              </a:rPr>
              <a:t>Shifts, timesheets, leave, performance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3465576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0B1220"/>
                </a:solidFill>
                <a:latin typeface="Segoe UI"/>
              </a:rPr>
              <a:t>Reporting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5B6B80"/>
                </a:solidFill>
                <a:latin typeface="Segoe UI"/>
              </a:rPr>
              <a:t>Sales, profitability, daily closing, Excel/PDF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1747" y="3465576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0B1220"/>
                </a:solidFill>
                <a:latin typeface="Segoe UI"/>
              </a:rPr>
              <a:t>Statistics centre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5B6B80"/>
                </a:solidFill>
                <a:latin typeface="Segoe UI"/>
              </a:rPr>
              <a:t>Period comparison, intensity matrix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782312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0B1220"/>
                </a:solidFill>
                <a:latin typeface="Segoe UI"/>
              </a:rPr>
              <a:t>Artificial intelligence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5B6B80"/>
                </a:solidFill>
                <a:latin typeface="Segoe UI"/>
              </a:rPr>
              <a:t>Local or cloud model, smart analyses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2827" y="4782312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0B1220"/>
                </a:solidFill>
                <a:latin typeface="Segoe UI"/>
              </a:rPr>
              <a:t>Backups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5B6B80"/>
                </a:solidFill>
                <a:latin typeface="Segoe UI"/>
              </a:rPr>
              <a:t>Consistent snapshot, safe restore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4782312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0B1220"/>
                </a:solidFill>
                <a:latin typeface="Segoe UI"/>
              </a:rPr>
              <a:t>Training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5B6B80"/>
                </a:solidFill>
                <a:latin typeface="Segoe UI"/>
              </a:rPr>
              <a:t>In-app guide, lessons by role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1747" y="4782312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0B1220"/>
                </a:solidFill>
                <a:latin typeface="Segoe UI"/>
              </a:rPr>
              <a:t>Security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5B6B80"/>
                </a:solidFill>
                <a:latin typeface="Segoe UI"/>
              </a:rPr>
              <a:t>Role-based permissions, audit log, PIN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5B6B80"/>
                </a:solidFill>
                <a:latin typeface="Segoe UI"/>
              </a:rPr>
              <a:t>Today's revenue, order count, occupancy, 14-day trend, category breakdown and critical alerts on one screen.</a:t>
            </a:r>
          </a:p>
        </p:txBody>
      </p:sp>
      <p:pic>
        <p:nvPicPr>
          <p:cNvPr id="5" name="Picture 4" descr="01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D3DAE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POS — sales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5B6B80"/>
                </a:solidFill>
                <a:latin typeface="Segoe UI"/>
              </a:rPr>
              <a:t>Touch-friendly selling: category filters, quick product search, check and table management.</a:t>
            </a:r>
          </a:p>
        </p:txBody>
      </p:sp>
      <p:pic>
        <p:nvPicPr>
          <p:cNvPr id="5" name="Picture 4" descr="02_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D3DAE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Kitchen display (KDS)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5B6B80"/>
                </a:solidFill>
                <a:latin typeface="Segoe UI"/>
              </a:rPr>
              <a:t>Orders split by station and stream live; overdue tickets change colour and sound an alert.</a:t>
            </a:r>
          </a:p>
        </p:txBody>
      </p:sp>
      <p:pic>
        <p:nvPicPr>
          <p:cNvPr id="5" name="Picture 4" descr="03_mutfak_k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D3DAE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Table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5B6B80"/>
                </a:solidFill>
                <a:latin typeface="Segoe UI"/>
              </a:rPr>
              <a:t>Floor sections, table states and QR-coded table management at a glance.</a:t>
            </a:r>
          </a:p>
        </p:txBody>
      </p:sp>
      <p:pic>
        <p:nvPicPr>
          <p:cNvPr id="5" name="Picture 4" descr="04_sal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D3DAE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Stock and ingredients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5B6B80"/>
                </a:solidFill>
                <a:latin typeface="Segoe UI"/>
              </a:rPr>
              <a:t>Lot-based FIFO/FEFO tracking, critical-level alerts and run-out forecasts.</a:t>
            </a:r>
          </a:p>
        </p:txBody>
      </p:sp>
      <p:pic>
        <p:nvPicPr>
          <p:cNvPr id="5" name="Picture 4" descr="05_st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D3DAE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Menu and recipes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5B6B80"/>
                </a:solidFill>
                <a:latin typeface="Segoe UI"/>
              </a:rPr>
              <a:t>Product cards, portions and modifiers; real cost and margin derived from the recipe.</a:t>
            </a:r>
          </a:p>
        </p:txBody>
      </p:sp>
      <p:pic>
        <p:nvPicPr>
          <p:cNvPr id="5" name="Picture 4" descr="06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D3DAE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Customers and loyalty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5B6B80"/>
                </a:solidFill>
                <a:latin typeface="Segoe UI"/>
              </a:rPr>
              <a:t>Segments, loyalty points, consent records and permission-based masking.</a:t>
            </a:r>
          </a:p>
        </p:txBody>
      </p:sp>
      <p:pic>
        <p:nvPicPr>
          <p:cNvPr id="5" name="Picture 4" descr="07_muste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D3DAE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Reservations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5B6B80"/>
                </a:solidFill>
                <a:latin typeface="Segoe UI"/>
              </a:rPr>
              <a:t>Reservation list, waiting list and conflict checks.</a:t>
            </a:r>
          </a:p>
        </p:txBody>
      </p:sp>
      <p:pic>
        <p:nvPicPr>
          <p:cNvPr id="5" name="Picture 4" descr="08_rezervasy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D3DAE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Statistics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5B6B80"/>
                </a:solidFill>
                <a:latin typeface="Segoe UI"/>
              </a:rPr>
              <a:t>Period comparison, intensity matrix and trend charts.</a:t>
            </a:r>
          </a:p>
        </p:txBody>
      </p:sp>
      <p:pic>
        <p:nvPicPr>
          <p:cNvPr id="5" name="Picture 4" descr="09_istatisti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D3DAE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AI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5B6B80"/>
                </a:solidFill>
                <a:latin typeface="Segoe UI"/>
              </a:rPr>
              <a:t>Q&amp;A over your own data; with a local model, nothing leaves the machine.</a:t>
            </a:r>
          </a:p>
        </p:txBody>
      </p:sp>
      <p:pic>
        <p:nvPicPr>
          <p:cNvPr id="5" name="Picture 4" descr="10_ai_asist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D3DAE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The order is entered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608997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The server picks the product on the POS and adds a note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"Send to kitchen" splits the order across stations: hot kitchen, grill, bar, pastry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At the same moment the recipe's ingredients leave stock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The kitchen screen shows the ticket instantly — no page refresh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When the time is exceeded the ticket turns yellow, then red, with an audible alert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4105" y="1435608"/>
            <a:ext cx="4419221" cy="28346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B4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19456" rIns="201168"/>
          <a:lstStyle/>
          <a:p>
            <a:pPr algn="ctr"/>
            <a:r>
              <a:rPr sz="1200" b="1">
                <a:solidFill>
                  <a:srgbClr val="B4530A"/>
                </a:solidFill>
                <a:latin typeface="Segoe UI"/>
              </a:rPr>
              <a:t>WHY IT MATTERS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6303F"/>
                </a:solidFill>
                <a:latin typeface="Segoe UI"/>
              </a:rPr>
              <a:t>Paper tickets, shouting across the pass and the "did it get through?" uncertainty disappear. Stock stops being a separate job; the sale itself updates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Seeing the real profit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608997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Every product has a recipe and a portion yield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Ingredient cost is calculated per batch, at the real purchase price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The profitability report gives profit, margin and food cost ratio per product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Products without a recipe are listed separately as a warning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The effect of a price change on margin can be simulated beforehand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4105" y="1435608"/>
            <a:ext cx="4419221" cy="28346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B4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19456" rIns="201168"/>
          <a:lstStyle/>
          <a:p>
            <a:pPr algn="ctr"/>
            <a:r>
              <a:rPr sz="1200" b="1">
                <a:solidFill>
                  <a:srgbClr val="B4530A"/>
                </a:solidFill>
                <a:latin typeface="Segoe UI"/>
              </a:rPr>
              <a:t>AN HONEST NUMBER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6303F"/>
                </a:solidFill>
                <a:latin typeface="Segoe UI"/>
              </a:rPr>
              <a:t>A product without a recipe counts as zero cost, so its profit looks higher than it is. The system does not hide this; it says at the top of the report how many products lack a recipe.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Statistics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608997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The chosen period is compared side by side with the previous equal period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A day × hour intensity matrix — for staff planning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Customer behaviour: new vs returning, most valuable customers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Waste rate, stock value, service speed and table turnover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Every section exports to a single Excel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4105" y="1435608"/>
            <a:ext cx="4419221" cy="28346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B4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19456" rIns="201168"/>
          <a:lstStyle/>
          <a:p>
            <a:pPr algn="ctr"/>
            <a:r>
              <a:rPr sz="1200" b="1">
                <a:solidFill>
                  <a:srgbClr val="B4530A"/>
                </a:solidFill>
                <a:latin typeface="Segoe UI"/>
              </a:rPr>
              <a:t>NO DECISIONS ON THIN DATA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6303F"/>
                </a:solidFill>
                <a:latin typeface="Segoe UI"/>
              </a:rPr>
              <a:t>Cells resting on fewer than three observations are faded. A single busy Saturday is not presented as a regular pattern — the system tells you how much data each number rests 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AI — without your data leaving the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608997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Choose a local model (LM Studio, Ollama) or a cloud provider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Sensitive data can be restricted to the local model only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Customer personal data is masked before the prompt is sent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Demand forecasting, menu engineering, waste and anomaly analysis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A daily management summary: what went well, what needs attention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4105" y="1435608"/>
            <a:ext cx="4419221" cy="28346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B4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19456" rIns="201168"/>
          <a:lstStyle/>
          <a:p>
            <a:pPr algn="ctr"/>
            <a:r>
              <a:rPr sz="1200" b="1">
                <a:solidFill>
                  <a:srgbClr val="B4530A"/>
                </a:solidFill>
                <a:latin typeface="Segoe UI"/>
              </a:rPr>
              <a:t>A FORECAST IS NOT A CERTAINTY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6303F"/>
                </a:solidFill>
                <a:latin typeface="Segoe UI"/>
              </a:rPr>
              <a:t>Every AI output is shown with its confidence level, the amount of data behind it and its limitations. A budget cap can be set; local models are free and are not charged against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Data safety and backups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608997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One-click backup from inside the app: database, files and a portable dump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A consistent snapshot even while the system is running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Integrity verification with SHA-256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An automatic safety backup before any restore; a confirmation phrase is required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Optional scheduled automatic backups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4105" y="1435608"/>
            <a:ext cx="4419221" cy="28346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B4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19456" rIns="201168"/>
          <a:lstStyle/>
          <a:p>
            <a:pPr algn="ctr"/>
            <a:r>
              <a:rPr sz="1200" b="1">
                <a:solidFill>
                  <a:srgbClr val="B4530A"/>
                </a:solidFill>
                <a:latin typeface="Segoe UI"/>
              </a:rPr>
              <a:t>API KEYS STAY OUT OF THE BACKUP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6303F"/>
                </a:solidFill>
                <a:latin typeface="Segoe UI"/>
              </a:rPr>
              <a:t>Backup archives usually travel by email or cloud storage. Keys are excluded by default so they cannot leak that way; they can be included explicitly, and the archive is then marked.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Who sees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B6B80"/>
                </a:solidFill>
                <a:latin typeface="Segoe UI"/>
              </a:rPr>
              <a:t>Permissions are role-based; the menu shows only the sections you can actually use.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2148840"/>
          <a:ext cx="1087495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What they see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Requires approval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Server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POS, tables, their own orders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Voids, discounts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Cashier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POS, payment, till, basic reports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Refunds, price overrides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Chef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Kitchen, menu, recipes, stock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Storekeeper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Stock, counts, purchasing, suppliers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Manager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Everything + financial reports + backups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Owner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Everything + restore + users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B6B80"/>
                </a:solidFill>
                <a:latin typeface="Segoe UI"/>
              </a:rPr>
              <a:t>Restaurant data means customer personal data. The system treats it that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874959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Role-based permissions, with per-user grants and revocations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Manager PIN approval for voids, refunds and discounts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An immutable audit log: who, when, what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Account lockout after five failed sign-ins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Customer phone and email are masked for users without the permission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Data erasure and anonymisation for data-protection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Setup and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608997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A single-file application (~57 MB) — no Python installation needed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Windows 10/11 (x64) &amp; macOS (Apple Silicon) — Download: GitHub Releases (v1.0.0)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The macOS package targets Apple Silicon (arm64) and is not notarized (first launch: right-click -&gt; Open)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Double-click it; on first run it offers to try the system with demo data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Database, files and logs live in the folder next to the program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No internet required; cloud AI is optional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PostgreSQL and Docker support for those who want a server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4105" y="1435608"/>
            <a:ext cx="4419221" cy="28346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B4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19456" rIns="201168"/>
          <a:lstStyle/>
          <a:p>
            <a:pPr algn="ctr"/>
            <a:r>
              <a:rPr sz="1200" b="1">
                <a:solidFill>
                  <a:srgbClr val="B4530A"/>
                </a:solidFill>
                <a:latin typeface="Segoe UI"/>
              </a:rPr>
              <a:t>LEARNING CURVE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6303F"/>
                </a:solidFill>
                <a:latin typeface="Segoe UI"/>
              </a:rPr>
              <a:t>The application contains a built-in guide of eight lessons. Lessons are filtered by role; a server is not shown the backup lesson. About 38 minutes in total.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Technical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B6B80"/>
                </a:solidFill>
                <a:latin typeface="Segoe UI"/>
              </a:rPr>
              <a:t>Built to last, to be auditable, and to grow.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874959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Python 3.11+ and Django 5.2 — mature, documented, widely supported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WebSockets for the kitchen display (Django Channels, Daphne)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SQLite on a single machine; PostgreSQL for multi-terminal setups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486 automated tests; linter, formatter and security scan on every release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Dependency vulnerability and secret scanning required before publishing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All settings come from the environment; no secret lives in the source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Fiscal compliance notice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37360"/>
            <a:ext cx="10874959" cy="35661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B4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9184" rIns="365760"/>
          <a:lstStyle/>
          <a:p>
            <a:pPr algn="ctr"/>
            <a:r>
              <a:rPr sz="1700" b="0">
                <a:solidFill>
                  <a:srgbClr val="0B1220"/>
                </a:solidFill>
                <a:latin typeface="Segoe UI"/>
              </a:rPr>
              <a:t>The receipts, checks and daily reports this system produces are </a:t>
            </a:r>
            <a:r>
              <a:rPr sz="1700" b="1">
                <a:solidFill>
                  <a:srgbClr val="B4530A"/>
                </a:solidFill>
                <a:latin typeface="Segoe UI"/>
              </a:rPr>
              <a:t>for internal information and do not replace legal fiscal documents.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B4530A"/>
                </a:solidFill>
                <a:latin typeface="Segoe UI"/>
              </a:rPr>
              <a:t>▪  </a:t>
            </a:r>
            <a:r>
              <a:rPr sz="1300" b="0">
                <a:solidFill>
                  <a:srgbClr val="5B6B80"/>
                </a:solidFill>
                <a:latin typeface="Segoe UI"/>
              </a:rPr>
              <a:t>A legal Z report must be produced by a certified fiscal device.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B4530A"/>
                </a:solidFill>
                <a:latin typeface="Segoe UI"/>
              </a:rPr>
              <a:t>▪  </a:t>
            </a:r>
            <a:r>
              <a:rPr sz="1300" b="0">
                <a:solidFill>
                  <a:srgbClr val="5B6B80"/>
                </a:solidFill>
                <a:latin typeface="Segoe UI"/>
              </a:rPr>
              <a:t>Electronic invoices must be issued through an authorised integrator.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B4530A"/>
                </a:solidFill>
                <a:latin typeface="Segoe UI"/>
              </a:rPr>
              <a:t>▪  </a:t>
            </a:r>
            <a:r>
              <a:rPr sz="1300" b="0">
                <a:solidFill>
                  <a:srgbClr val="5B6B80"/>
                </a:solidFill>
                <a:latin typeface="Segoe UI"/>
              </a:rPr>
              <a:t>The system provides interfaces for these integrations; it does not claim to produce fiscal documents.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Quality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B6B80"/>
                </a:solidFill>
                <a:latin typeface="Segoe UI"/>
              </a:rPr>
              <a:t>Verified automatically before every release.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4508C"/>
                </a:solidFill>
                <a:latin typeface="Segoe UI"/>
              </a:rPr>
              <a:t>486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1220"/>
                </a:solidFill>
                <a:latin typeface="Segoe UI"/>
              </a:rPr>
              <a:t>tests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5B6B80"/>
                </a:solidFill>
                <a:latin typeface="Segoe UI"/>
              </a:rPr>
              <a:t>unit, integration, permissions,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31971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4508C"/>
                </a:solidFill>
                <a:latin typeface="Segoe UI"/>
              </a:rPr>
              <a:t>pip-audit + osv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1220"/>
                </a:solidFill>
                <a:latin typeface="Segoe UI"/>
              </a:rPr>
              <a:t>dependency scan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5B6B80"/>
                </a:solidFill>
                <a:latin typeface="Segoe UI"/>
              </a:rPr>
              <a:t>run before every release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5575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4508C"/>
                </a:solidFill>
                <a:latin typeface="Segoe UI"/>
              </a:rPr>
              <a:t>1,764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1220"/>
                </a:solidFill>
                <a:latin typeface="Segoe UI"/>
              </a:rPr>
              <a:t>translated strings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5B6B80"/>
                </a:solidFill>
                <a:latin typeface="Segoe UI"/>
              </a:rPr>
              <a:t>Turkish / English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9179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4508C"/>
                </a:solidFill>
                <a:latin typeface="Segoe UI"/>
              </a:rPr>
              <a:t>gitleaks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1220"/>
                </a:solidFill>
                <a:latin typeface="Segoe UI"/>
              </a:rPr>
              <a:t>secret scan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5B6B80"/>
                </a:solidFill>
                <a:latin typeface="Segoe UI"/>
              </a:rPr>
              <a:t>run before every commit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Ready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B6B80"/>
                </a:solidFill>
                <a:latin typeface="Segoe UI"/>
              </a:rPr>
              <a:t>The program runs as a single file and opens with a restaurant already full of sample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874959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14508C"/>
                </a:solidFill>
                <a:latin typeface="Segoe UI"/>
              </a:rPr>
              <a:t>1.  </a:t>
            </a:r>
            <a:r>
              <a:rPr sz="1700" b="0">
                <a:solidFill>
                  <a:srgbClr val="26303F"/>
                </a:solidFill>
                <a:latin typeface="Segoe UI"/>
              </a:rPr>
              <a:t>Put the application in an empty folder and double-click it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4508C"/>
                </a:solidFill>
                <a:latin typeface="Segoe UI"/>
              </a:rPr>
              <a:t>2.  </a:t>
            </a:r>
            <a:r>
              <a:rPr sz="1700" b="0">
                <a:solidFill>
                  <a:srgbClr val="26303F"/>
                </a:solidFill>
                <a:latin typeface="Segoe UI"/>
              </a:rPr>
              <a:t>Choose "Try with sample data"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4508C"/>
                </a:solidFill>
                <a:latin typeface="Segoe UI"/>
              </a:rPr>
              <a:t>3.  </a:t>
            </a:r>
            <a:r>
              <a:rPr sz="1700" b="0">
                <a:solidFill>
                  <a:srgbClr val="26303F"/>
                </a:solidFill>
                <a:latin typeface="Segoe UI"/>
              </a:rPr>
              <a:t>The sample-data step prints the usernames and a one-time random password for that install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4508C"/>
                </a:solidFill>
                <a:latin typeface="Segoe UI"/>
              </a:rPr>
              <a:t>4.  </a:t>
            </a:r>
            <a:r>
              <a:rPr sz="1700" b="0">
                <a:solidFill>
                  <a:srgbClr val="26303F"/>
                </a:solidFill>
                <a:latin typeface="Segoe UI"/>
              </a:rPr>
              <a:t>Reach the user guide from the ? button in the top 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94960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5B6B80"/>
                </a:solidFill>
                <a:latin typeface="Segoe UI"/>
              </a:rPr>
              <a:t>Clear the sample data and create your own users before going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