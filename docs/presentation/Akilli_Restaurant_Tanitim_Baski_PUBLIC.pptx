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920240"/>
            <a:ext cx="1087495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400" b="1">
                <a:solidFill>
                  <a:srgbClr val="0B1220"/>
                </a:solidFill>
                <a:latin typeface="Segoe UI"/>
              </a:rPr>
              <a:t>Akıllı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063240"/>
            <a:ext cx="1087495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0">
                <a:solidFill>
                  <a:srgbClr val="5B6B80"/>
                </a:solidFill>
                <a:latin typeface="Segoe UI"/>
              </a:rPr>
              <a:t>Restoran Yönetim Sistemi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794760"/>
            <a:ext cx="8412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26303F"/>
                </a:solidFill>
                <a:latin typeface="Segoe UI"/>
              </a:rPr>
              <a:t>Siparişten mutfağa, stoktan rapora kadar restoranın tamamı tek uygulamada.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074920"/>
            <a:ext cx="1924812" cy="4114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6303F"/>
                </a:solidFill>
                <a:latin typeface="Segoe UI"/>
              </a:rPr>
              <a:t>Tek dosya kurulum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1196" y="5074920"/>
            <a:ext cx="2116836" cy="4114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6303F"/>
                </a:solidFill>
                <a:latin typeface="Segoe UI"/>
              </a:rPr>
              <a:t>İnternetsiz çalışır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6048" y="5074920"/>
            <a:ext cx="2020824" cy="41148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6303F"/>
                </a:solidFill>
                <a:latin typeface="Segoe UI"/>
              </a:rPr>
              <a:t>Türkçe / İngilizce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Çözdüğü sorun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Çoğu restoran üç ayrı yerde çalışır: kasada bir program, mutfakta kâğıt, stokta Excel.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Adisyon ile mutfak arasında kopukluk — yanlış ve geciken sipariş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Stoğun ne zaman bittiğinin sipariş anında anlaşılması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Reçete maliyeti bilinmediği için gerçek kârın görünmemesi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Ay sonunda toplanan, karar vermeye geç kalan raporlar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İptal ve indirimlerin kim tarafından yapıldığının izlenememesi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Sistem bir bakışta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Tek bir uygulama, tek dosyalık kurulum.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14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modül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POS'tan yedeklemeye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1971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12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kullanıcı rolü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62 ayrı yetki kodu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5575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484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otomatik test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her sürümde çalışır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179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2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dil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Türkçe ve İngilizce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Modüller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Her modül tek başına da anlamlı; birlikte çalıştıklarında asıl değeri üretiyorlar.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POS ve sipariş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Dokunmatik satış, hesap bölme, çoklu ödeme, kupon ve indirim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2827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Mutfak ekranı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Canlı fiş akışı, istasyona göre ayırma, süre uyarıları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Stok ve reçete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Parti takibi, FIFO/FEFO, otomatik düşüm, fire kaydı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1747" y="2148840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Salon ve rezervasyon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Masa planı, birleştirme, bekleme listesi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Müşteri ve sadakat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Segment, puan, kampanya, KVKK izinleri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2827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Personel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Vardiya, puantaj, izin, performans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Raporlama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Satış, kârlılık, gün sonu, Excel/PDF çıktı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1747" y="3465576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İstatistik merkezi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Dönem karşılaştırması, yoğunluk matrisi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Yapay zekâ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Yerel veya bulut model, akıllı analizler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2827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Yedekleme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Tutarlı anlık görüntü, güvenli geri yükleme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Eğitim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Uygulama içi kılavuz, role göre dersler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747" y="4782312"/>
            <a:ext cx="2581579" cy="1170432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28016" rIns="109728"/>
          <a:lstStyle/>
          <a:p>
            <a:pPr algn="ctr"/>
            <a:r>
              <a:rPr sz="1250" b="1">
                <a:solidFill>
                  <a:srgbClr val="0B1220"/>
                </a:solidFill>
                <a:latin typeface="Segoe UI"/>
              </a:rPr>
              <a:t>Güvenlik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5B6B80"/>
                </a:solidFill>
                <a:latin typeface="Segoe UI"/>
              </a:rPr>
              <a:t>Rol bazlı yetki, denetim kaydı, PIN onayı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Yönetim paneli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Günün cirosu, sipariş sayısı, doluluk, 14 günlük eğilim, kategori dağılımı ve kritik uyarılar tek ekranda.</a:t>
            </a:r>
          </a:p>
        </p:txBody>
      </p:sp>
      <p:pic>
        <p:nvPicPr>
          <p:cNvPr id="5" name="Picture 4" descr="01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POS — satış ekranı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Dokunmatik uyumlu satış: kategori filtreleri, hızlı ürün arama, adisyon ve masa yönetimi.</a:t>
            </a:r>
          </a:p>
        </p:txBody>
      </p:sp>
      <p:pic>
        <p:nvPicPr>
          <p:cNvPr id="5" name="Picture 4" descr="02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Mutfak ekranı (KDS)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Siparişler istasyona göre ayrılır, canlı akar; süre aşımında renk ve ses uyarısı verir.</a:t>
            </a:r>
          </a:p>
        </p:txBody>
      </p:sp>
      <p:pic>
        <p:nvPicPr>
          <p:cNvPr id="5" name="Picture 4" descr="03_mutfak_k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Masa planı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Salon ve bölümler, masa durumları ve QR kodlu masa yönetimi tek bakışta.</a:t>
            </a:r>
          </a:p>
        </p:txBody>
      </p:sp>
      <p:pic>
        <p:nvPicPr>
          <p:cNvPr id="5" name="Picture 4" descr="04_sal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Stok ve malzemeler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Lot bazlı FIFO/FEFO takip, kritik seviye uyarısı ve tükenme tahmini.</a:t>
            </a:r>
          </a:p>
        </p:txBody>
      </p:sp>
      <p:pic>
        <p:nvPicPr>
          <p:cNvPr id="5" name="Picture 4" descr="05_st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Menü ve reçeteler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Ürün kartları, porsiyon ve seçenekler; reçeteden gelen gerçek maliyet ve marj.</a:t>
            </a:r>
          </a:p>
        </p:txBody>
      </p:sp>
      <p:pic>
        <p:nvPicPr>
          <p:cNvPr id="5" name="Picture 4" descr="06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Müşteri ve sadakat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Segmentler, sadakat puanı, KVKK izin kayıtları ve izne bağlı maskeleme.</a:t>
            </a:r>
          </a:p>
        </p:txBody>
      </p:sp>
      <p:pic>
        <p:nvPicPr>
          <p:cNvPr id="5" name="Picture 4" descr="07_muste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Rezervasyonlar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Rezervasyon listesi, bekleme listesi ve çakışma kontrolü.</a:t>
            </a:r>
          </a:p>
        </p:txBody>
      </p:sp>
      <p:pic>
        <p:nvPicPr>
          <p:cNvPr id="5" name="Picture 4" descr="08_rezervasy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İstatistik merkezi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Dönem karşılaştırması, yoğunluk matrisi ve eğilim grafikleri.</a:t>
            </a:r>
          </a:p>
        </p:txBody>
      </p:sp>
      <p:pic>
        <p:nvPicPr>
          <p:cNvPr id="5" name="Picture 4" descr="09_istatist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Yapay zekâ asistanı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5B6B80"/>
                </a:solidFill>
                <a:latin typeface="Segoe UI"/>
              </a:rPr>
              <a:t>Kendi verinizle soru-cevap; yerel modelde veri bilgisayardan çıkmaz.</a:t>
            </a:r>
          </a:p>
        </p:txBody>
      </p:sp>
      <p:pic>
        <p:nvPicPr>
          <p:cNvPr id="5" name="Picture 4" descr="10_ai_asis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03" y="1984248"/>
            <a:ext cx="8095488" cy="4553712"/>
          </a:xfrm>
          <a:prstGeom prst="rect">
            <a:avLst/>
          </a:prstGeom>
          <a:ln w="9525">
            <a:solidFill>
              <a:srgbClr val="D3DAE4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Sipariş bir kez girilir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Garson POS'ta ürünü seçer, notu yazar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"Mutfağa gönder" siparişi istasyonlara böler: sıcak mutfak, ızgara, bar, tatlı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Aynı anda reçetedeki malzemeler stoktan düşer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Mutfak ekranı fişi anında gösterir — sayfa yenilemeye gerek yok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Süre aşımında fiş sarıya, sonra kırmızıya döner ve sesli uyarır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B4530A"/>
                </a:solidFill>
                <a:latin typeface="Segoe UI"/>
              </a:rPr>
              <a:t>NEDEN ÖNEMLİ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6303F"/>
                </a:solidFill>
                <a:latin typeface="Segoe UI"/>
              </a:rPr>
              <a:t>Kâğıt fiş, telefonla bağırma ve "acaba gitti mi" belirsizliği ortadan kalkar. Stok ayrı bir işlem olmaktan çıkar; satışın kendisi stoğu günceller.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Gerçek kârı görmek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Her ürünün reçetesi ve porsiyon verimi tanımlı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Malzeme maliyeti parti bazında, gerçek alış fiyatıyla hesaplanır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Kârlılık raporu ürün bazında kâr, marj ve gıda maliyet oranı verir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Reçetesi olmayan ürünler ayrıca uyarı olarak listelenir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Fiyat değişikliğinin marja etkisi önceden benzetilebilir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B4530A"/>
                </a:solidFill>
                <a:latin typeface="Segoe UI"/>
              </a:rPr>
              <a:t>DÜRÜST RAKAM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6303F"/>
                </a:solidFill>
                <a:latin typeface="Segoe UI"/>
              </a:rPr>
              <a:t>Reçetesi tanımlanmamış bir ürünün maliyeti sıfır sayılır ve kâr olduğundan yüksek görünür. Sistem bunu gizlemez; kaç ürünün reçetesiz olduğunu raporun başında söyler.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İstatistik merkezi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Seçilen dönem, önceki eşit dönemle yan yana karşılaştırılır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Gün × saat yoğunluk matrisi — personel planlaması için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Müşteri davranışı: yeni / tekrar eden oranı, en değerli müşteriler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Fire oranı, stok değeri, servis hızı ve masa devir hızı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Tüm bölümler tek bir Excel dosyasına aktarılır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B4530A"/>
                </a:solidFill>
                <a:latin typeface="Segoe UI"/>
              </a:rPr>
              <a:t>AZ VERİYLE KARAR VERİLMEZ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6303F"/>
                </a:solidFill>
                <a:latin typeface="Segoe UI"/>
              </a:rPr>
              <a:t>Üç günden az gözleme dayanan hücreler soluk gösterilir. Tek bir kalabalık cumartesi, düzenli bir örüntü gibi sunulmaz — sistem hangi sayının ne kadar veriye dayandığını söyler.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Yapay zekâ — verinizi dışarı çıkarmadan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Yerel model (LM Studio, Ollama) veya bulut sağlayıcı seçilebilir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Hassas veri yalnızca yerel modele gönderilecek şekilde ayarlanabilir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Müşteri kişisel verileri istem gönderilmeden önce maskelenir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Talep tahmini, menü mühendisliği, fire ve anormallik analizi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Günlük yönetici özeti: neyin iyi gittiği, neyin dikkat istediği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B4530A"/>
                </a:solidFill>
                <a:latin typeface="Segoe UI"/>
              </a:rPr>
              <a:t>TAHMİN, KESİNLİK DEĞİLDİR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6303F"/>
                </a:solidFill>
                <a:latin typeface="Segoe UI"/>
              </a:rPr>
              <a:t>Her yapay zekâ çıktısı güven düzeyi, dayandığı veri hacmi ve sınırlamalarıyla birlikte gösterilir. Bütçe sınırı konabilir; yerel modeller ücretsizdir ve bütçeye yazılmaz.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Veri güvenliği ve yedekleme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Uygulama içinden tek tıkla yedek: veritabanı, dosyalar ve taşınabilir döküm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Çalışan sistemde bile tutarlı anlık görüntü alınır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SHA-256 ile bütünlük doğrulaması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Geri yüklemeden önce otomatik güvenlik yedeği; onay ifadesi zorunlu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İsteğe bağlı otomatik zamanlanmış yedekleme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B4530A"/>
                </a:solidFill>
                <a:latin typeface="Segoe UI"/>
              </a:rPr>
              <a:t>API ANAHTARLARI YEDEĞE GİRMEZ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6303F"/>
                </a:solidFill>
                <a:latin typeface="Segoe UI"/>
              </a:rPr>
              <a:t>Yedek arşivi çoğu zaman e-posta veya bulutla taşınır. Anahtarların bu yolla sızmaması için varsayılan olarak dışarıda bırakılır; istenirse açıkça eklenir ve arşiv işaretlenir.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Kim neyi görür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Yetki sistemi rol tabanlıdır; menüde yalnızca kullanabildiğiniz bölümler görünür.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2148840"/>
          <a:ext cx="108749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Rol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Görebildikleri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Onay gerektiren</a:t>
                      </a:r>
                    </a:p>
                  </a:txBody>
                  <a:tcPr>
                    <a:solidFill>
                      <a:srgbClr val="1450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Garson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POS, masalar, kendi siparişleri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İptal, indirim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Kasiyer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POS, ödeme, kasa, temel rapor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İade, fiyat değişimi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Şef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Mutfak, menü, reçete, stok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Depo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Stok, sayım, satın alma, tedarikçi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Müdür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Tümü + mali rapor + yedek alma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İşletme sahibi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Tümü + geri yükleme + kullanıcılar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303F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Güvenlik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Restoran verisi, müşteri kişisel verisi demektir. Sistem bunu ciddiye alır.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Rol bazlı yetkilendirme ve kullanıcıya özel izin ekleme/kaldırma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İptal, iade, indirim gibi işlemlerde yetkili PIN onayı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Değiştirilemez denetim kaydı: kim, ne zaman, neyi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Beş başarısız girişte hesap kilidi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Müşteri telefon ve e-postası yetkisi olmayana maskeli gösterilir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KVKK kapsamında veri silme ve anonimleştirme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Kurulum ve kullanım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6089977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Tek dosyalık Windows uygulaması (~57 MB) — Python kurulumu gerekmez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Çift tıklayın; ilk açılışta örnek veriyle denemeyi teklif eder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Veritabanı, dosyalar ve günlükler programın yanındaki klasörde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İnternet gerekmez; bulut yapay zekâ isteğe bağlıdır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500" b="0">
                <a:solidFill>
                  <a:srgbClr val="26303F"/>
                </a:solidFill>
                <a:latin typeface="Segoe UI"/>
              </a:rPr>
              <a:t>Sunucu kurulumu isteyenler için PostgreSQL ve Docker desteği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4105" y="1435608"/>
            <a:ext cx="4419221" cy="28346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tIns="219456" rIns="201168"/>
          <a:lstStyle/>
          <a:p>
            <a:pPr algn="ctr"/>
            <a:r>
              <a:rPr sz="1200" b="1">
                <a:solidFill>
                  <a:srgbClr val="B4530A"/>
                </a:solidFill>
                <a:latin typeface="Segoe UI"/>
              </a:rPr>
              <a:t>ÖĞRENME YÜKÜ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6303F"/>
                </a:solidFill>
                <a:latin typeface="Segoe UI"/>
              </a:rPr>
              <a:t>Uygulama içinde 8 dersten oluşan bir kullanım kılavuzu var. Dersler role göre filtrelenir; garsona yedekleme dersi gösterilmez. Toplam yaklaşık 38 dakika.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Teknik temel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Uzun ömürlü, denetlenebilir ve büyüyebilir bir yapı hedeflendi.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Python 3.11+ ve Django 5.2 — olgun, belgelenmiş, geniş topluluk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Mutfak ekranı için WebSocket (Django Channels, Daphne)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SQLite ile tek makinede; PostgreSQL ile çok terminalli kurulum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484 otomatik test; her sürümde linter, biçimlendirici ve güvenlik taraması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Bağımlılık açığı taraması ve gizli değer taraması yayın öncesi zorunlu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4508C"/>
                </a:solidFill>
                <a:latin typeface="Segoe UI"/>
              </a:rPr>
              <a:t>▪  </a:t>
            </a:r>
            <a:r>
              <a:rPr sz="1600" b="0">
                <a:solidFill>
                  <a:srgbClr val="26303F"/>
                </a:solidFill>
                <a:latin typeface="Segoe UI"/>
              </a:rPr>
              <a:t>Tüm ayarlar ortam değişkeninden; hiçbir gizli değer kaynak kodunda değil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Mali mevzuat uyarısı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37360"/>
            <a:ext cx="10874959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B453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29184" rIns="365760"/>
          <a:lstStyle/>
          <a:p>
            <a:pPr algn="ctr"/>
            <a:r>
              <a:rPr sz="1700" b="0">
                <a:solidFill>
                  <a:srgbClr val="0B1220"/>
                </a:solidFill>
                <a:latin typeface="Segoe UI"/>
              </a:rPr>
              <a:t>Sistemin ürettiği fiş, adisyon ve gün sonu raporu </a:t>
            </a:r>
            <a:r>
              <a:rPr sz="1700" b="1">
                <a:solidFill>
                  <a:srgbClr val="B4530A"/>
                </a:solidFill>
                <a:latin typeface="Segoe UI"/>
              </a:rPr>
              <a:t>işletme içi bilgilendirme amaçlıdır ve yasal mali belge yerine geçmez.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B4530A"/>
                </a:solidFill>
                <a:latin typeface="Segoe UI"/>
              </a:rPr>
              <a:t>▪  </a:t>
            </a:r>
            <a:r>
              <a:rPr sz="1300" b="0">
                <a:solidFill>
                  <a:srgbClr val="5B6B80"/>
                </a:solidFill>
                <a:latin typeface="Segoe UI"/>
              </a:rPr>
              <a:t>Yasal Z raporu, onaylı ödeme kaydedici cihaz (ÖKC / yeni nesil yazarkasa) tarafından üretilmelidir.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B4530A"/>
                </a:solidFill>
                <a:latin typeface="Segoe UI"/>
              </a:rPr>
              <a:t>▪  </a:t>
            </a:r>
            <a:r>
              <a:rPr sz="1300" b="0">
                <a:solidFill>
                  <a:srgbClr val="5B6B80"/>
                </a:solidFill>
                <a:latin typeface="Segoe UI"/>
              </a:rPr>
              <a:t>e-Fatura ve e-Arşiv, yetkili bir özel entegratör üzerinden düzenlenmelidir.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B4530A"/>
                </a:solidFill>
                <a:latin typeface="Segoe UI"/>
              </a:rPr>
              <a:t>▪  </a:t>
            </a:r>
            <a:r>
              <a:rPr sz="1300" b="0">
                <a:solidFill>
                  <a:srgbClr val="5B6B80"/>
                </a:solidFill>
                <a:latin typeface="Segoe UI"/>
              </a:rPr>
              <a:t>Sistem bu entegrasyonlar için arayüz hazırlığı içerir; gerçek mali belge ürettiği iddia edilmez.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Kalite ölçütleri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Her yayın öncesi otomatik olarak doğrulanır.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484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test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birim, entegrasyon, yetki, güvenlik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1971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pip-audit + osv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bağımlılık taraması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her yayın öncesi çalıştırılır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5575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1.764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çevrilmiş metin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Türkçe / İngilizce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179" y="2148840"/>
            <a:ext cx="2554147" cy="214884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37744" rIns="164592"/>
          <a:lstStyle/>
          <a:p>
            <a:pPr algn="ctr"/>
            <a:r>
              <a:rPr sz="4000" b="1">
                <a:solidFill>
                  <a:srgbClr val="14508C"/>
                </a:solidFill>
                <a:latin typeface="Segoe UI"/>
              </a:rPr>
              <a:t>gitleaks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B1220"/>
                </a:solidFill>
                <a:latin typeface="Segoe UI"/>
              </a:rPr>
              <a:t>gizli değer taraması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5B6B80"/>
                </a:solidFill>
                <a:latin typeface="Segoe UI"/>
              </a:rPr>
              <a:t>her commit öncesi çalıştırılır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812280"/>
            <a:ext cx="12191695" cy="45720"/>
          </a:xfrm>
          <a:prstGeom prst="roundRect">
            <a:avLst>
              <a:gd name="adj" fmla="val 0"/>
            </a:avLst>
          </a:prstGeom>
          <a:solidFill>
            <a:srgbClr val="1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0B1220"/>
                </a:solidFill>
                <a:latin typeface="Segoe UI"/>
              </a:rPr>
              <a:t>Denemeye hazır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35608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B6B80"/>
                </a:solidFill>
                <a:latin typeface="Segoe UI"/>
              </a:rPr>
              <a:t>Program tek dosya olarak çalışır ve ilk açılışta örnek veriyle dolu bir restoran sunar.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7495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4508C"/>
                </a:solidFill>
                <a:latin typeface="Segoe UI"/>
              </a:rPr>
              <a:t>1.  </a:t>
            </a:r>
            <a:r>
              <a:rPr sz="1700" b="0">
                <a:solidFill>
                  <a:srgbClr val="26303F"/>
                </a:solidFill>
                <a:latin typeface="Segoe UI"/>
              </a:rPr>
              <a:t>Uygulamayı boş bir klasöre koyup çift tıklayın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508C"/>
                </a:solidFill>
                <a:latin typeface="Segoe UI"/>
              </a:rPr>
              <a:t>2.  </a:t>
            </a:r>
            <a:r>
              <a:rPr sz="1700" b="0">
                <a:solidFill>
                  <a:srgbClr val="26303F"/>
                </a:solidFill>
                <a:latin typeface="Segoe UI"/>
              </a:rPr>
              <a:t>"Örnek veriyle dene" seçeneğini işaretleyin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508C"/>
                </a:solidFill>
                <a:latin typeface="Segoe UI"/>
              </a:rPr>
              <a:t>3.  </a:t>
            </a:r>
            <a:r>
              <a:rPr sz="1700" b="0">
                <a:solidFill>
                  <a:srgbClr val="26303F"/>
                </a:solidFill>
                <a:latin typeface="Segoe UI"/>
              </a:rPr>
              <a:t>Kurulum ekranındaki örnek veri seçeneği, kullanıcı adlarını ve o kuruluma özel rastgele bir parolayı bir kez gösterir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14508C"/>
                </a:solidFill>
                <a:latin typeface="Segoe UI"/>
              </a:rPr>
              <a:t>4.  </a:t>
            </a:r>
            <a:r>
              <a:rPr sz="1700" b="0">
                <a:solidFill>
                  <a:srgbClr val="26303F"/>
                </a:solidFill>
                <a:latin typeface="Segoe UI"/>
              </a:rPr>
              <a:t>Üst çubuktaki ? düğmesinden kullanım kılavuzuna ulaşın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94960"/>
            <a:ext cx="1087495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5B6B80"/>
                </a:solidFill>
                <a:latin typeface="Segoe UI"/>
              </a:rPr>
              <a:t>Gerçek kullanıma geçmeden önce örnek veriyi temizleyin ve kendi kullanıcılarınızı oluşturun.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45936"/>
            <a:ext cx="108749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5B6B80"/>
                </a:solidFill>
                <a:latin typeface="Segoe UI"/>
              </a:rPr>
              <a:t>Akıllı Restaurant Yönetim Sistemi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53167" y="63459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80"/>
                </a:solidFill>
                <a:latin typeface="Segoe U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