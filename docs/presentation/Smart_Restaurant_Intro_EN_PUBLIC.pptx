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1920240"/>
            <a:ext cx="10874959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5400" b="1">
                <a:solidFill>
                  <a:srgbClr val="FFFFFF"/>
                </a:solidFill>
                <a:latin typeface="Segoe UI"/>
              </a:rPr>
              <a:t>Smart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063240"/>
            <a:ext cx="1087495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0">
                <a:solidFill>
                  <a:srgbClr val="8FA3BF"/>
                </a:solidFill>
                <a:latin typeface="Segoe UI"/>
              </a:rPr>
              <a:t>Restaurant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794760"/>
            <a:ext cx="8412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0">
                <a:solidFill>
                  <a:srgbClr val="E6EDF7"/>
                </a:solidFill>
                <a:latin typeface="Segoe UI"/>
              </a:rPr>
              <a:t>From the order to the kitchen, from stock to reports — the whole restaurant in one application.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5074920"/>
            <a:ext cx="1924812" cy="411480"/>
          </a:xfrm>
          <a:prstGeom prst="roundRect">
            <a:avLst>
              <a:gd name="adj" fmla="val 6000"/>
            </a:avLst>
          </a:prstGeom>
          <a:solidFill>
            <a:srgbClr val="17263E"/>
          </a:solidFill>
          <a:ln w="9525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6EDF7"/>
                </a:solidFill>
                <a:latin typeface="Segoe UI"/>
              </a:rPr>
              <a:t>Single-file setup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11196" y="5074920"/>
            <a:ext cx="1540764" cy="411480"/>
          </a:xfrm>
          <a:prstGeom prst="roundRect">
            <a:avLst>
              <a:gd name="adj" fmla="val 6000"/>
            </a:avLst>
          </a:prstGeom>
          <a:solidFill>
            <a:srgbClr val="17263E"/>
          </a:solidFill>
          <a:ln w="9525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6EDF7"/>
                </a:solidFill>
                <a:latin typeface="Segoe UI"/>
              </a:rPr>
              <a:t>Works offline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9976" y="5074920"/>
            <a:ext cx="1924812" cy="411480"/>
          </a:xfrm>
          <a:prstGeom prst="roundRect">
            <a:avLst>
              <a:gd name="adj" fmla="val 6000"/>
            </a:avLst>
          </a:prstGeom>
          <a:solidFill>
            <a:srgbClr val="17263E"/>
          </a:solidFill>
          <a:ln w="9525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6EDF7"/>
                </a:solidFill>
                <a:latin typeface="Segoe UI"/>
              </a:rPr>
              <a:t>Turkish / English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8FA3BF"/>
                </a:solidFill>
                <a:latin typeface="Segoe UI"/>
              </a:rPr>
              <a:t>Smart Restaurant Management 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FA3BF"/>
                </a:solidFill>
                <a:latin typeface="Segoe UI"/>
              </a:rPr>
              <a:t>1 / 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Segoe UI"/>
              </a:rPr>
              <a:t>The problem it solves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8FA3BF"/>
                </a:solidFill>
                <a:latin typeface="Segoe UI"/>
              </a:rPr>
              <a:t>Most restaurants run on three separate things: a till program, paper in the kitchen, and a spreadsheet for stock.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48840"/>
            <a:ext cx="10874959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100"/>
              </a:spcAft>
            </a:pPr>
            <a:r>
              <a:rPr sz="16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600" b="0">
                <a:solidFill>
                  <a:srgbClr val="E6EDF7"/>
                </a:solidFill>
                <a:latin typeface="Segoe UI"/>
              </a:rPr>
              <a:t>A gap between the check and the kitchen — wrong and late orders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600" b="0">
                <a:solidFill>
                  <a:srgbClr val="E6EDF7"/>
                </a:solidFill>
                <a:latin typeface="Segoe UI"/>
              </a:rPr>
              <a:t>Finding out an ingredient has run out only when the order is placed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600" b="0">
                <a:solidFill>
                  <a:srgbClr val="E6EDF7"/>
                </a:solidFill>
                <a:latin typeface="Segoe UI"/>
              </a:rPr>
              <a:t>Real profit stays invisible because recipe cost is unknown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600" b="0">
                <a:solidFill>
                  <a:srgbClr val="E6EDF7"/>
                </a:solidFill>
                <a:latin typeface="Segoe UI"/>
              </a:rPr>
              <a:t>Reports collected at month end, too late to act on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600" b="0">
                <a:solidFill>
                  <a:srgbClr val="E6EDF7"/>
                </a:solidFill>
                <a:latin typeface="Segoe UI"/>
              </a:rPr>
              <a:t>No trace of who voided or discounted what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8FA3BF"/>
                </a:solidFill>
                <a:latin typeface="Segoe UI"/>
              </a:rPr>
              <a:t>Smart Restaurant Management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FA3BF"/>
                </a:solidFill>
                <a:latin typeface="Segoe UI"/>
              </a:rPr>
              <a:t>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Segoe UI"/>
              </a:rPr>
              <a:t>The system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8FA3BF"/>
                </a:solidFill>
                <a:latin typeface="Segoe UI"/>
              </a:rPr>
              <a:t>One application, one single-file install.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2554147" cy="2148840"/>
          </a:xfrm>
          <a:prstGeom prst="roundRect">
            <a:avLst>
              <a:gd name="adj" fmla="val 6000"/>
            </a:avLst>
          </a:prstGeom>
          <a:solidFill>
            <a:srgbClr val="111C2E"/>
          </a:solidFill>
          <a:ln w="9525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237744" rIns="164592"/>
          <a:lstStyle/>
          <a:p>
            <a:pPr algn="ctr"/>
            <a:r>
              <a:rPr sz="4000" b="1">
                <a:solidFill>
                  <a:srgbClr val="1F6FEB"/>
                </a:solidFill>
                <a:latin typeface="Segoe UI"/>
              </a:rPr>
              <a:t>14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FFFFFF"/>
                </a:solidFill>
                <a:latin typeface="Segoe UI"/>
              </a:rPr>
              <a:t>modules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8FA3BF"/>
                </a:solidFill>
                <a:latin typeface="Segoe UI"/>
              </a:rPr>
              <a:t>from POS to backups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31971" y="2148840"/>
            <a:ext cx="2554147" cy="2148840"/>
          </a:xfrm>
          <a:prstGeom prst="roundRect">
            <a:avLst>
              <a:gd name="adj" fmla="val 6000"/>
            </a:avLst>
          </a:prstGeom>
          <a:solidFill>
            <a:srgbClr val="111C2E"/>
          </a:solidFill>
          <a:ln w="9525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237744" rIns="164592"/>
          <a:lstStyle/>
          <a:p>
            <a:pPr algn="ctr"/>
            <a:r>
              <a:rPr sz="4000" b="1">
                <a:solidFill>
                  <a:srgbClr val="1F6FEB"/>
                </a:solidFill>
                <a:latin typeface="Segoe UI"/>
              </a:rPr>
              <a:t>12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FFFFFF"/>
                </a:solidFill>
                <a:latin typeface="Segoe UI"/>
              </a:rPr>
              <a:t>user roles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8FA3BF"/>
                </a:solidFill>
                <a:latin typeface="Segoe UI"/>
              </a:rPr>
              <a:t>62 separate permissions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05575" y="2148840"/>
            <a:ext cx="2554147" cy="2148840"/>
          </a:xfrm>
          <a:prstGeom prst="roundRect">
            <a:avLst>
              <a:gd name="adj" fmla="val 6000"/>
            </a:avLst>
          </a:prstGeom>
          <a:solidFill>
            <a:srgbClr val="111C2E"/>
          </a:solidFill>
          <a:ln w="9525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237744" rIns="164592"/>
          <a:lstStyle/>
          <a:p>
            <a:pPr algn="ctr"/>
            <a:r>
              <a:rPr sz="4000" b="1">
                <a:solidFill>
                  <a:srgbClr val="1F6FEB"/>
                </a:solidFill>
                <a:latin typeface="Segoe UI"/>
              </a:rPr>
              <a:t>486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FFFFFF"/>
                </a:solidFill>
                <a:latin typeface="Segoe UI"/>
              </a:rPr>
              <a:t>automated tests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8FA3BF"/>
                </a:solidFill>
                <a:latin typeface="Segoe UI"/>
              </a:rPr>
              <a:t>run on every release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79179" y="2148840"/>
            <a:ext cx="2554147" cy="2148840"/>
          </a:xfrm>
          <a:prstGeom prst="roundRect">
            <a:avLst>
              <a:gd name="adj" fmla="val 6000"/>
            </a:avLst>
          </a:prstGeom>
          <a:solidFill>
            <a:srgbClr val="111C2E"/>
          </a:solidFill>
          <a:ln w="9525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237744" rIns="164592"/>
          <a:lstStyle/>
          <a:p>
            <a:pPr algn="ctr"/>
            <a:r>
              <a:rPr sz="4000" b="1">
                <a:solidFill>
                  <a:srgbClr val="1F6FEB"/>
                </a:solidFill>
                <a:latin typeface="Segoe UI"/>
              </a:rPr>
              <a:t>2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FFFFFF"/>
                </a:solidFill>
                <a:latin typeface="Segoe UI"/>
              </a:rPr>
              <a:t>languages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8FA3BF"/>
                </a:solidFill>
                <a:latin typeface="Segoe UI"/>
              </a:rPr>
              <a:t>Turkish and English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8FA3BF"/>
                </a:solidFill>
                <a:latin typeface="Segoe UI"/>
              </a:rPr>
              <a:t>Smart Restaurant Management 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FA3BF"/>
                </a:solidFill>
                <a:latin typeface="Segoe UI"/>
              </a:rPr>
              <a:t>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Segoe UI"/>
              </a:rPr>
              <a:t>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8FA3BF"/>
                </a:solidFill>
                <a:latin typeface="Segoe UI"/>
              </a:rPr>
              <a:t>Each module stands on its own; together they produce the real value.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2581579" cy="1170432"/>
          </a:xfrm>
          <a:prstGeom prst="roundRect">
            <a:avLst>
              <a:gd name="adj" fmla="val 6000"/>
            </a:avLst>
          </a:prstGeom>
          <a:solidFill>
            <a:srgbClr val="111C2E"/>
          </a:solidFill>
          <a:ln w="9525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28016" rIns="109728"/>
          <a:lstStyle/>
          <a:p>
            <a:pPr algn="ctr"/>
            <a:r>
              <a:rPr sz="1250" b="1">
                <a:solidFill>
                  <a:srgbClr val="FFFFFF"/>
                </a:solidFill>
                <a:latin typeface="Segoe UI"/>
              </a:rPr>
              <a:t>POS and orders</a:t>
            </a:r>
          </a:p>
          <a:p>
            <a:pPr>
              <a:spcBef>
                <a:spcPts val="300"/>
              </a:spcBef>
            </a:pPr>
            <a:r>
              <a:rPr sz="1000" b="0">
                <a:solidFill>
                  <a:srgbClr val="8FA3BF"/>
                </a:solidFill>
                <a:latin typeface="Segoe UI"/>
              </a:rPr>
              <a:t>Touch sales, split checks, multiple payments, coupons and discounts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2827" y="2148840"/>
            <a:ext cx="2581579" cy="1170432"/>
          </a:xfrm>
          <a:prstGeom prst="roundRect">
            <a:avLst>
              <a:gd name="adj" fmla="val 6000"/>
            </a:avLst>
          </a:prstGeom>
          <a:solidFill>
            <a:srgbClr val="111C2E"/>
          </a:solidFill>
          <a:ln w="9525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28016" rIns="109728"/>
          <a:lstStyle/>
          <a:p>
            <a:pPr algn="ctr"/>
            <a:r>
              <a:rPr sz="1250" b="1">
                <a:solidFill>
                  <a:srgbClr val="FFFFFF"/>
                </a:solidFill>
                <a:latin typeface="Segoe UI"/>
              </a:rPr>
              <a:t>Kitchen display</a:t>
            </a:r>
          </a:p>
          <a:p>
            <a:pPr>
              <a:spcBef>
                <a:spcPts val="300"/>
              </a:spcBef>
            </a:pPr>
            <a:r>
              <a:rPr sz="1000" b="0">
                <a:solidFill>
                  <a:srgbClr val="8FA3BF"/>
                </a:solidFill>
                <a:latin typeface="Segoe UI"/>
              </a:rPr>
              <a:t>Live ticket flow, split by station, time alerts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7287" y="2148840"/>
            <a:ext cx="2581579" cy="1170432"/>
          </a:xfrm>
          <a:prstGeom prst="roundRect">
            <a:avLst>
              <a:gd name="adj" fmla="val 6000"/>
            </a:avLst>
          </a:prstGeom>
          <a:solidFill>
            <a:srgbClr val="111C2E"/>
          </a:solidFill>
          <a:ln w="9525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28016" rIns="109728"/>
          <a:lstStyle/>
          <a:p>
            <a:pPr algn="ctr"/>
            <a:r>
              <a:rPr sz="1250" b="1">
                <a:solidFill>
                  <a:srgbClr val="FFFFFF"/>
                </a:solidFill>
                <a:latin typeface="Segoe UI"/>
              </a:rPr>
              <a:t>Stock and recipes</a:t>
            </a:r>
          </a:p>
          <a:p>
            <a:pPr>
              <a:spcBef>
                <a:spcPts val="300"/>
              </a:spcBef>
            </a:pPr>
            <a:r>
              <a:rPr sz="1000" b="0">
                <a:solidFill>
                  <a:srgbClr val="8FA3BF"/>
                </a:solidFill>
                <a:latin typeface="Segoe UI"/>
              </a:rPr>
              <a:t>Batch tracking, FIFO/FEFO, automatic deduction, waste records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51747" y="2148840"/>
            <a:ext cx="2581579" cy="1170432"/>
          </a:xfrm>
          <a:prstGeom prst="roundRect">
            <a:avLst>
              <a:gd name="adj" fmla="val 6000"/>
            </a:avLst>
          </a:prstGeom>
          <a:solidFill>
            <a:srgbClr val="111C2E"/>
          </a:solidFill>
          <a:ln w="9525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28016" rIns="109728"/>
          <a:lstStyle/>
          <a:p>
            <a:pPr algn="ctr"/>
            <a:r>
              <a:rPr sz="1250" b="1">
                <a:solidFill>
                  <a:srgbClr val="FFFFFF"/>
                </a:solidFill>
                <a:latin typeface="Segoe UI"/>
              </a:rPr>
              <a:t>Floor and reservations</a:t>
            </a:r>
          </a:p>
          <a:p>
            <a:pPr>
              <a:spcBef>
                <a:spcPts val="300"/>
              </a:spcBef>
            </a:pPr>
            <a:r>
              <a:rPr sz="1000" b="0">
                <a:solidFill>
                  <a:srgbClr val="8FA3BF"/>
                </a:solidFill>
                <a:latin typeface="Segoe UI"/>
              </a:rPr>
              <a:t>Table plan, merging, waiting list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465576"/>
            <a:ext cx="2581579" cy="1170432"/>
          </a:xfrm>
          <a:prstGeom prst="roundRect">
            <a:avLst>
              <a:gd name="adj" fmla="val 6000"/>
            </a:avLst>
          </a:prstGeom>
          <a:solidFill>
            <a:srgbClr val="111C2E"/>
          </a:solidFill>
          <a:ln w="9525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28016" rIns="109728"/>
          <a:lstStyle/>
          <a:p>
            <a:pPr algn="ctr"/>
            <a:r>
              <a:rPr sz="1250" b="1">
                <a:solidFill>
                  <a:srgbClr val="FFFFFF"/>
                </a:solidFill>
                <a:latin typeface="Segoe UI"/>
              </a:rPr>
              <a:t>Customers and loyalty</a:t>
            </a:r>
          </a:p>
          <a:p>
            <a:pPr>
              <a:spcBef>
                <a:spcPts val="300"/>
              </a:spcBef>
            </a:pPr>
            <a:r>
              <a:rPr sz="1000" b="0">
                <a:solidFill>
                  <a:srgbClr val="8FA3BF"/>
                </a:solidFill>
                <a:latin typeface="Segoe UI"/>
              </a:rPr>
              <a:t>Segments, points, campaigns, consent records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2827" y="3465576"/>
            <a:ext cx="2581579" cy="1170432"/>
          </a:xfrm>
          <a:prstGeom prst="roundRect">
            <a:avLst>
              <a:gd name="adj" fmla="val 6000"/>
            </a:avLst>
          </a:prstGeom>
          <a:solidFill>
            <a:srgbClr val="111C2E"/>
          </a:solidFill>
          <a:ln w="9525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28016" rIns="109728"/>
          <a:lstStyle/>
          <a:p>
            <a:pPr algn="ctr"/>
            <a:r>
              <a:rPr sz="1250" b="1">
                <a:solidFill>
                  <a:srgbClr val="FFFFFF"/>
                </a:solidFill>
                <a:latin typeface="Segoe UI"/>
              </a:rPr>
              <a:t>Staff</a:t>
            </a:r>
          </a:p>
          <a:p>
            <a:pPr>
              <a:spcBef>
                <a:spcPts val="300"/>
              </a:spcBef>
            </a:pPr>
            <a:r>
              <a:rPr sz="1000" b="0">
                <a:solidFill>
                  <a:srgbClr val="8FA3BF"/>
                </a:solidFill>
                <a:latin typeface="Segoe UI"/>
              </a:rPr>
              <a:t>Shifts, timesheets, leave, performance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3465576"/>
            <a:ext cx="2581579" cy="1170432"/>
          </a:xfrm>
          <a:prstGeom prst="roundRect">
            <a:avLst>
              <a:gd name="adj" fmla="val 6000"/>
            </a:avLst>
          </a:prstGeom>
          <a:solidFill>
            <a:srgbClr val="111C2E"/>
          </a:solidFill>
          <a:ln w="9525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28016" rIns="109728"/>
          <a:lstStyle/>
          <a:p>
            <a:pPr algn="ctr"/>
            <a:r>
              <a:rPr sz="1250" b="1">
                <a:solidFill>
                  <a:srgbClr val="FFFFFF"/>
                </a:solidFill>
                <a:latin typeface="Segoe UI"/>
              </a:rPr>
              <a:t>Reporting</a:t>
            </a:r>
          </a:p>
          <a:p>
            <a:pPr>
              <a:spcBef>
                <a:spcPts val="300"/>
              </a:spcBef>
            </a:pPr>
            <a:r>
              <a:rPr sz="1000" b="0">
                <a:solidFill>
                  <a:srgbClr val="8FA3BF"/>
                </a:solidFill>
                <a:latin typeface="Segoe UI"/>
              </a:rPr>
              <a:t>Sales, profitability, daily closing, Excel/PDF output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51747" y="3465576"/>
            <a:ext cx="2581579" cy="1170432"/>
          </a:xfrm>
          <a:prstGeom prst="roundRect">
            <a:avLst>
              <a:gd name="adj" fmla="val 6000"/>
            </a:avLst>
          </a:prstGeom>
          <a:solidFill>
            <a:srgbClr val="111C2E"/>
          </a:solidFill>
          <a:ln w="9525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28016" rIns="109728"/>
          <a:lstStyle/>
          <a:p>
            <a:pPr algn="ctr"/>
            <a:r>
              <a:rPr sz="1250" b="1">
                <a:solidFill>
                  <a:srgbClr val="FFFFFF"/>
                </a:solidFill>
                <a:latin typeface="Segoe UI"/>
              </a:rPr>
              <a:t>Statistics centre</a:t>
            </a:r>
          </a:p>
          <a:p>
            <a:pPr>
              <a:spcBef>
                <a:spcPts val="300"/>
              </a:spcBef>
            </a:pPr>
            <a:r>
              <a:rPr sz="1000" b="0">
                <a:solidFill>
                  <a:srgbClr val="8FA3BF"/>
                </a:solidFill>
                <a:latin typeface="Segoe UI"/>
              </a:rPr>
              <a:t>Period comparison, intensity matrix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782312"/>
            <a:ext cx="2581579" cy="1170432"/>
          </a:xfrm>
          <a:prstGeom prst="roundRect">
            <a:avLst>
              <a:gd name="adj" fmla="val 6000"/>
            </a:avLst>
          </a:prstGeom>
          <a:solidFill>
            <a:srgbClr val="111C2E"/>
          </a:solidFill>
          <a:ln w="9525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28016" rIns="109728"/>
          <a:lstStyle/>
          <a:p>
            <a:pPr algn="ctr"/>
            <a:r>
              <a:rPr sz="1250" b="1">
                <a:solidFill>
                  <a:srgbClr val="FFFFFF"/>
                </a:solidFill>
                <a:latin typeface="Segoe UI"/>
              </a:rPr>
              <a:t>Artificial intelligence</a:t>
            </a:r>
          </a:p>
          <a:p>
            <a:pPr>
              <a:spcBef>
                <a:spcPts val="300"/>
              </a:spcBef>
            </a:pPr>
            <a:r>
              <a:rPr sz="1000" b="0">
                <a:solidFill>
                  <a:srgbClr val="8FA3BF"/>
                </a:solidFill>
                <a:latin typeface="Segoe UI"/>
              </a:rPr>
              <a:t>Local or cloud model, smart analyses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2827" y="4782312"/>
            <a:ext cx="2581579" cy="1170432"/>
          </a:xfrm>
          <a:prstGeom prst="roundRect">
            <a:avLst>
              <a:gd name="adj" fmla="val 6000"/>
            </a:avLst>
          </a:prstGeom>
          <a:solidFill>
            <a:srgbClr val="111C2E"/>
          </a:solidFill>
          <a:ln w="9525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28016" rIns="109728"/>
          <a:lstStyle/>
          <a:p>
            <a:pPr algn="ctr"/>
            <a:r>
              <a:rPr sz="1250" b="1">
                <a:solidFill>
                  <a:srgbClr val="FFFFFF"/>
                </a:solidFill>
                <a:latin typeface="Segoe UI"/>
              </a:rPr>
              <a:t>Backups</a:t>
            </a:r>
          </a:p>
          <a:p>
            <a:pPr>
              <a:spcBef>
                <a:spcPts val="300"/>
              </a:spcBef>
            </a:pPr>
            <a:r>
              <a:rPr sz="1000" b="0">
                <a:solidFill>
                  <a:srgbClr val="8FA3BF"/>
                </a:solidFill>
                <a:latin typeface="Segoe UI"/>
              </a:rPr>
              <a:t>Consistent snapshot, safe restore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4782312"/>
            <a:ext cx="2581579" cy="1170432"/>
          </a:xfrm>
          <a:prstGeom prst="roundRect">
            <a:avLst>
              <a:gd name="adj" fmla="val 6000"/>
            </a:avLst>
          </a:prstGeom>
          <a:solidFill>
            <a:srgbClr val="111C2E"/>
          </a:solidFill>
          <a:ln w="9525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28016" rIns="109728"/>
          <a:lstStyle/>
          <a:p>
            <a:pPr algn="ctr"/>
            <a:r>
              <a:rPr sz="1250" b="1">
                <a:solidFill>
                  <a:srgbClr val="FFFFFF"/>
                </a:solidFill>
                <a:latin typeface="Segoe UI"/>
              </a:rPr>
              <a:t>Training</a:t>
            </a:r>
          </a:p>
          <a:p>
            <a:pPr>
              <a:spcBef>
                <a:spcPts val="300"/>
              </a:spcBef>
            </a:pPr>
            <a:r>
              <a:rPr sz="1000" b="0">
                <a:solidFill>
                  <a:srgbClr val="8FA3BF"/>
                </a:solidFill>
                <a:latin typeface="Segoe UI"/>
              </a:rPr>
              <a:t>In-app guide, lessons by role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51747" y="4782312"/>
            <a:ext cx="2581579" cy="1170432"/>
          </a:xfrm>
          <a:prstGeom prst="roundRect">
            <a:avLst>
              <a:gd name="adj" fmla="val 6000"/>
            </a:avLst>
          </a:prstGeom>
          <a:solidFill>
            <a:srgbClr val="111C2E"/>
          </a:solidFill>
          <a:ln w="9525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28016" rIns="109728"/>
          <a:lstStyle/>
          <a:p>
            <a:pPr algn="ctr"/>
            <a:r>
              <a:rPr sz="1250" b="1">
                <a:solidFill>
                  <a:srgbClr val="FFFFFF"/>
                </a:solidFill>
                <a:latin typeface="Segoe UI"/>
              </a:rPr>
              <a:t>Security</a:t>
            </a:r>
          </a:p>
          <a:p>
            <a:pPr>
              <a:spcBef>
                <a:spcPts val="300"/>
              </a:spcBef>
            </a:pPr>
            <a:r>
              <a:rPr sz="1000" b="0">
                <a:solidFill>
                  <a:srgbClr val="8FA3BF"/>
                </a:solidFill>
                <a:latin typeface="Segoe UI"/>
              </a:rPr>
              <a:t>Role-based permissions, audit log, PIN approval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8FA3BF"/>
                </a:solidFill>
                <a:latin typeface="Segoe UI"/>
              </a:rPr>
              <a:t>Smart Restaurant Management System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FA3BF"/>
                </a:solidFill>
                <a:latin typeface="Segoe UI"/>
              </a:rPr>
              <a:t>4 /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Segoe UI"/>
              </a:rPr>
              <a:t>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8FA3BF"/>
                </a:solidFill>
                <a:latin typeface="Segoe UI"/>
              </a:rPr>
              <a:t>Today's revenue, order count, occupancy, 14-day trend, category breakdown and critical alerts on one screen.</a:t>
            </a:r>
          </a:p>
        </p:txBody>
      </p:sp>
      <p:pic>
        <p:nvPicPr>
          <p:cNvPr id="5" name="Picture 4" descr="01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8103" y="1984248"/>
            <a:ext cx="8095488" cy="4553712"/>
          </a:xfrm>
          <a:prstGeom prst="rect">
            <a:avLst/>
          </a:prstGeom>
          <a:ln w="9525">
            <a:solidFill>
              <a:srgbClr val="22304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8FA3BF"/>
                </a:solidFill>
                <a:latin typeface="Segoe UI"/>
              </a:rPr>
              <a:t>Smart Restaurant Management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FA3BF"/>
                </a:solidFill>
                <a:latin typeface="Segoe UI"/>
              </a:rPr>
              <a:t>5 /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Segoe UI"/>
              </a:rPr>
              <a:t>POS — sales screen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8FA3BF"/>
                </a:solidFill>
                <a:latin typeface="Segoe UI"/>
              </a:rPr>
              <a:t>Touch-friendly selling: category filters, quick product search, check and table management.</a:t>
            </a:r>
          </a:p>
        </p:txBody>
      </p:sp>
      <p:pic>
        <p:nvPicPr>
          <p:cNvPr id="5" name="Picture 4" descr="02_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8103" y="1984248"/>
            <a:ext cx="8095488" cy="4553712"/>
          </a:xfrm>
          <a:prstGeom prst="rect">
            <a:avLst/>
          </a:prstGeom>
          <a:ln w="9525">
            <a:solidFill>
              <a:srgbClr val="22304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8FA3BF"/>
                </a:solidFill>
                <a:latin typeface="Segoe UI"/>
              </a:rPr>
              <a:t>Smart Restaurant Management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FA3BF"/>
                </a:solidFill>
                <a:latin typeface="Segoe UI"/>
              </a:rPr>
              <a:t>6 /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Segoe UI"/>
              </a:rPr>
              <a:t>Kitchen display (KDS)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8FA3BF"/>
                </a:solidFill>
                <a:latin typeface="Segoe UI"/>
              </a:rPr>
              <a:t>Orders split by station and stream live; overdue tickets change colour and sound an alert.</a:t>
            </a:r>
          </a:p>
        </p:txBody>
      </p:sp>
      <p:pic>
        <p:nvPicPr>
          <p:cNvPr id="5" name="Picture 4" descr="03_mutfak_k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8103" y="1984248"/>
            <a:ext cx="8095488" cy="4553712"/>
          </a:xfrm>
          <a:prstGeom prst="rect">
            <a:avLst/>
          </a:prstGeom>
          <a:ln w="9525">
            <a:solidFill>
              <a:srgbClr val="22304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8FA3BF"/>
                </a:solidFill>
                <a:latin typeface="Segoe UI"/>
              </a:rPr>
              <a:t>Smart Restaurant Management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FA3BF"/>
                </a:solidFill>
                <a:latin typeface="Segoe UI"/>
              </a:rPr>
              <a:t>7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Segoe UI"/>
              </a:rPr>
              <a:t>Table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8FA3BF"/>
                </a:solidFill>
                <a:latin typeface="Segoe UI"/>
              </a:rPr>
              <a:t>Floor sections, table states and QR-coded table management at a glance.</a:t>
            </a:r>
          </a:p>
        </p:txBody>
      </p:sp>
      <p:pic>
        <p:nvPicPr>
          <p:cNvPr id="5" name="Picture 4" descr="04_sal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8103" y="1984248"/>
            <a:ext cx="8095488" cy="4553712"/>
          </a:xfrm>
          <a:prstGeom prst="rect">
            <a:avLst/>
          </a:prstGeom>
          <a:ln w="9525">
            <a:solidFill>
              <a:srgbClr val="22304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8FA3BF"/>
                </a:solidFill>
                <a:latin typeface="Segoe UI"/>
              </a:rPr>
              <a:t>Smart Restaurant Management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FA3BF"/>
                </a:solidFill>
                <a:latin typeface="Segoe UI"/>
              </a:rPr>
              <a:t>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Segoe UI"/>
              </a:rPr>
              <a:t>Stock and ingredients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8FA3BF"/>
                </a:solidFill>
                <a:latin typeface="Segoe UI"/>
              </a:rPr>
              <a:t>Lot-based FIFO/FEFO tracking, critical-level alerts and run-out forecasts.</a:t>
            </a:r>
          </a:p>
        </p:txBody>
      </p:sp>
      <p:pic>
        <p:nvPicPr>
          <p:cNvPr id="5" name="Picture 4" descr="05_st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8103" y="1984248"/>
            <a:ext cx="8095488" cy="4553712"/>
          </a:xfrm>
          <a:prstGeom prst="rect">
            <a:avLst/>
          </a:prstGeom>
          <a:ln w="9525">
            <a:solidFill>
              <a:srgbClr val="22304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8FA3BF"/>
                </a:solidFill>
                <a:latin typeface="Segoe UI"/>
              </a:rPr>
              <a:t>Smart Restaurant Management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FA3BF"/>
                </a:solidFill>
                <a:latin typeface="Segoe UI"/>
              </a:rPr>
              <a:t>9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Segoe UI"/>
              </a:rPr>
              <a:t>Menu and recipes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8FA3BF"/>
                </a:solidFill>
                <a:latin typeface="Segoe UI"/>
              </a:rPr>
              <a:t>Product cards, portions and modifiers; real cost and margin derived from the recipe.</a:t>
            </a:r>
          </a:p>
        </p:txBody>
      </p:sp>
      <p:pic>
        <p:nvPicPr>
          <p:cNvPr id="5" name="Picture 4" descr="06_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8103" y="1984248"/>
            <a:ext cx="8095488" cy="4553712"/>
          </a:xfrm>
          <a:prstGeom prst="rect">
            <a:avLst/>
          </a:prstGeom>
          <a:ln w="9525">
            <a:solidFill>
              <a:srgbClr val="22304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8FA3BF"/>
                </a:solidFill>
                <a:latin typeface="Segoe UI"/>
              </a:rPr>
              <a:t>Smart Restaurant Management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FA3BF"/>
                </a:solidFill>
                <a:latin typeface="Segoe UI"/>
              </a:rPr>
              <a:t>10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Segoe UI"/>
              </a:rPr>
              <a:t>Customers and loyalty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8FA3BF"/>
                </a:solidFill>
                <a:latin typeface="Segoe UI"/>
              </a:rPr>
              <a:t>Segments, loyalty points, consent records and permission-based masking.</a:t>
            </a:r>
          </a:p>
        </p:txBody>
      </p:sp>
      <p:pic>
        <p:nvPicPr>
          <p:cNvPr id="5" name="Picture 4" descr="07_muster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8103" y="1984248"/>
            <a:ext cx="8095488" cy="4553712"/>
          </a:xfrm>
          <a:prstGeom prst="rect">
            <a:avLst/>
          </a:prstGeom>
          <a:ln w="9525">
            <a:solidFill>
              <a:srgbClr val="22304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8FA3BF"/>
                </a:solidFill>
                <a:latin typeface="Segoe UI"/>
              </a:rPr>
              <a:t>Smart Restaurant Management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FA3BF"/>
                </a:solidFill>
                <a:latin typeface="Segoe UI"/>
              </a:rPr>
              <a:t>11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Segoe UI"/>
              </a:rPr>
              <a:t>Reservations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8FA3BF"/>
                </a:solidFill>
                <a:latin typeface="Segoe UI"/>
              </a:rPr>
              <a:t>Reservation list, waiting list and conflict checks.</a:t>
            </a:r>
          </a:p>
        </p:txBody>
      </p:sp>
      <p:pic>
        <p:nvPicPr>
          <p:cNvPr id="5" name="Picture 4" descr="08_rezervasy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8103" y="1984248"/>
            <a:ext cx="8095488" cy="4553712"/>
          </a:xfrm>
          <a:prstGeom prst="rect">
            <a:avLst/>
          </a:prstGeom>
          <a:ln w="9525">
            <a:solidFill>
              <a:srgbClr val="22304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8FA3BF"/>
                </a:solidFill>
                <a:latin typeface="Segoe UI"/>
              </a:rPr>
              <a:t>Smart Restaurant Management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FA3BF"/>
                </a:solidFill>
                <a:latin typeface="Segoe UI"/>
              </a:rPr>
              <a:t>12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Segoe UI"/>
              </a:rPr>
              <a:t>Statistics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8FA3BF"/>
                </a:solidFill>
                <a:latin typeface="Segoe UI"/>
              </a:rPr>
              <a:t>Period comparison, intensity matrix and trend charts.</a:t>
            </a:r>
          </a:p>
        </p:txBody>
      </p:sp>
      <p:pic>
        <p:nvPicPr>
          <p:cNvPr id="5" name="Picture 4" descr="09_istatisti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8103" y="1984248"/>
            <a:ext cx="8095488" cy="4553712"/>
          </a:xfrm>
          <a:prstGeom prst="rect">
            <a:avLst/>
          </a:prstGeom>
          <a:ln w="9525">
            <a:solidFill>
              <a:srgbClr val="22304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8FA3BF"/>
                </a:solidFill>
                <a:latin typeface="Segoe UI"/>
              </a:rPr>
              <a:t>Smart Restaurant Management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FA3BF"/>
                </a:solidFill>
                <a:latin typeface="Segoe UI"/>
              </a:rPr>
              <a:t>13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Segoe UI"/>
              </a:rPr>
              <a:t>AI assistant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8FA3BF"/>
                </a:solidFill>
                <a:latin typeface="Segoe UI"/>
              </a:rPr>
              <a:t>Q&amp;A over your own data; with a local model, nothing leaves the machine.</a:t>
            </a:r>
          </a:p>
        </p:txBody>
      </p:sp>
      <p:pic>
        <p:nvPicPr>
          <p:cNvPr id="5" name="Picture 4" descr="10_ai_asist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8103" y="1984248"/>
            <a:ext cx="8095488" cy="4553712"/>
          </a:xfrm>
          <a:prstGeom prst="rect">
            <a:avLst/>
          </a:prstGeom>
          <a:ln w="9525">
            <a:solidFill>
              <a:srgbClr val="22304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8FA3BF"/>
                </a:solidFill>
                <a:latin typeface="Segoe UI"/>
              </a:rPr>
              <a:t>Smart Restaurant Management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FA3BF"/>
                </a:solidFill>
                <a:latin typeface="Segoe UI"/>
              </a:rPr>
              <a:t>14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Segoe UI"/>
              </a:rPr>
              <a:t>The order is entered once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6089977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500" b="0">
                <a:solidFill>
                  <a:srgbClr val="E6EDF7"/>
                </a:solidFill>
                <a:latin typeface="Segoe UI"/>
              </a:rPr>
              <a:t>The server picks the product on the POS and adds a note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500" b="0">
                <a:solidFill>
                  <a:srgbClr val="E6EDF7"/>
                </a:solidFill>
                <a:latin typeface="Segoe UI"/>
              </a:rPr>
              <a:t>"Send to kitchen" splits the order across stations: hot kitchen, grill, bar, pastry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500" b="0">
                <a:solidFill>
                  <a:srgbClr val="E6EDF7"/>
                </a:solidFill>
                <a:latin typeface="Segoe UI"/>
              </a:rPr>
              <a:t>At the same moment the recipe's ingredients leave stock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500" b="0">
                <a:solidFill>
                  <a:srgbClr val="E6EDF7"/>
                </a:solidFill>
                <a:latin typeface="Segoe UI"/>
              </a:rPr>
              <a:t>The kitchen screen shows the ticket instantly — no page refresh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500" b="0">
                <a:solidFill>
                  <a:srgbClr val="E6EDF7"/>
                </a:solidFill>
                <a:latin typeface="Segoe UI"/>
              </a:rPr>
              <a:t>When the time is exceeded the ticket turns yellow, then red, with an audible alert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14105" y="1435608"/>
            <a:ext cx="4419221" cy="2834640"/>
          </a:xfrm>
          <a:prstGeom prst="roundRect">
            <a:avLst>
              <a:gd name="adj" fmla="val 6000"/>
            </a:avLst>
          </a:prstGeom>
          <a:solidFill>
            <a:srgbClr val="111C2E"/>
          </a:solidFill>
          <a:ln w="9525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tIns="219456" rIns="201168"/>
          <a:lstStyle/>
          <a:p>
            <a:pPr algn="ctr"/>
            <a:r>
              <a:rPr sz="1200" b="1">
                <a:solidFill>
                  <a:srgbClr val="F97316"/>
                </a:solidFill>
                <a:latin typeface="Segoe UI"/>
              </a:rPr>
              <a:t>WHY IT MATTERS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E6EDF7"/>
                </a:solidFill>
                <a:latin typeface="Segoe UI"/>
              </a:rPr>
              <a:t>Paper tickets, shouting across the pass and the "did it get through?" uncertainty disappear. Stock stops being a separate job; the sale itself updates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8FA3BF"/>
                </a:solidFill>
                <a:latin typeface="Segoe UI"/>
              </a:rPr>
              <a:t>Smart Restaurant Management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FA3BF"/>
                </a:solidFill>
                <a:latin typeface="Segoe UI"/>
              </a:rPr>
              <a:t>15 /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Segoe UI"/>
              </a:rPr>
              <a:t>Seeing the real profit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6089977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500" b="0">
                <a:solidFill>
                  <a:srgbClr val="E6EDF7"/>
                </a:solidFill>
                <a:latin typeface="Segoe UI"/>
              </a:rPr>
              <a:t>Every product has a recipe and a portion yield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500" b="0">
                <a:solidFill>
                  <a:srgbClr val="E6EDF7"/>
                </a:solidFill>
                <a:latin typeface="Segoe UI"/>
              </a:rPr>
              <a:t>Ingredient cost is calculated per batch, at the real purchase price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500" b="0">
                <a:solidFill>
                  <a:srgbClr val="E6EDF7"/>
                </a:solidFill>
                <a:latin typeface="Segoe UI"/>
              </a:rPr>
              <a:t>The profitability report gives profit, margin and food cost ratio per product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500" b="0">
                <a:solidFill>
                  <a:srgbClr val="E6EDF7"/>
                </a:solidFill>
                <a:latin typeface="Segoe UI"/>
              </a:rPr>
              <a:t>Products without a recipe are listed separately as a warning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500" b="0">
                <a:solidFill>
                  <a:srgbClr val="E6EDF7"/>
                </a:solidFill>
                <a:latin typeface="Segoe UI"/>
              </a:rPr>
              <a:t>The effect of a price change on margin can be simulated beforehand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14105" y="1435608"/>
            <a:ext cx="4419221" cy="2834640"/>
          </a:xfrm>
          <a:prstGeom prst="roundRect">
            <a:avLst>
              <a:gd name="adj" fmla="val 6000"/>
            </a:avLst>
          </a:prstGeom>
          <a:solidFill>
            <a:srgbClr val="111C2E"/>
          </a:solidFill>
          <a:ln w="9525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tIns="219456" rIns="201168"/>
          <a:lstStyle/>
          <a:p>
            <a:pPr algn="ctr"/>
            <a:r>
              <a:rPr sz="1200" b="1">
                <a:solidFill>
                  <a:srgbClr val="F97316"/>
                </a:solidFill>
                <a:latin typeface="Segoe UI"/>
              </a:rPr>
              <a:t>AN HONEST NUMBER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E6EDF7"/>
                </a:solidFill>
                <a:latin typeface="Segoe UI"/>
              </a:rPr>
              <a:t>A product without a recipe counts as zero cost, so its profit looks higher than it is. The system does not hide this; it says at the top of the report how many products lack a recipe.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8FA3BF"/>
                </a:solidFill>
                <a:latin typeface="Segoe UI"/>
              </a:rPr>
              <a:t>Smart Restaurant Management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FA3BF"/>
                </a:solidFill>
                <a:latin typeface="Segoe UI"/>
              </a:rPr>
              <a:t>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Segoe UI"/>
              </a:rPr>
              <a:t>Statistics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6089977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500" b="0">
                <a:solidFill>
                  <a:srgbClr val="E6EDF7"/>
                </a:solidFill>
                <a:latin typeface="Segoe UI"/>
              </a:rPr>
              <a:t>The chosen period is compared side by side with the previous equal period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500" b="0">
                <a:solidFill>
                  <a:srgbClr val="E6EDF7"/>
                </a:solidFill>
                <a:latin typeface="Segoe UI"/>
              </a:rPr>
              <a:t>A day × hour intensity matrix — for staff planning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500" b="0">
                <a:solidFill>
                  <a:srgbClr val="E6EDF7"/>
                </a:solidFill>
                <a:latin typeface="Segoe UI"/>
              </a:rPr>
              <a:t>Customer behaviour: new vs returning, most valuable customers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500" b="0">
                <a:solidFill>
                  <a:srgbClr val="E6EDF7"/>
                </a:solidFill>
                <a:latin typeface="Segoe UI"/>
              </a:rPr>
              <a:t>Waste rate, stock value, service speed and table turnover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500" b="0">
                <a:solidFill>
                  <a:srgbClr val="E6EDF7"/>
                </a:solidFill>
                <a:latin typeface="Segoe UI"/>
              </a:rPr>
              <a:t>Every section exports to a single Excel file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14105" y="1435608"/>
            <a:ext cx="4419221" cy="2834640"/>
          </a:xfrm>
          <a:prstGeom prst="roundRect">
            <a:avLst>
              <a:gd name="adj" fmla="val 6000"/>
            </a:avLst>
          </a:prstGeom>
          <a:solidFill>
            <a:srgbClr val="111C2E"/>
          </a:solidFill>
          <a:ln w="9525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tIns="219456" rIns="201168"/>
          <a:lstStyle/>
          <a:p>
            <a:pPr algn="ctr"/>
            <a:r>
              <a:rPr sz="1200" b="1">
                <a:solidFill>
                  <a:srgbClr val="F97316"/>
                </a:solidFill>
                <a:latin typeface="Segoe UI"/>
              </a:rPr>
              <a:t>NO DECISIONS ON THIN DATA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E6EDF7"/>
                </a:solidFill>
                <a:latin typeface="Segoe UI"/>
              </a:rPr>
              <a:t>Cells resting on fewer than three observations are faded. A single busy Saturday is not presented as a regular pattern — the system tells you how much data each number rests 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8FA3BF"/>
                </a:solidFill>
                <a:latin typeface="Segoe UI"/>
              </a:rPr>
              <a:t>Smart Restaurant Management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FA3BF"/>
                </a:solidFill>
                <a:latin typeface="Segoe UI"/>
              </a:rPr>
              <a:t>17 /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Segoe UI"/>
              </a:rPr>
              <a:t>AI — without your data leaving the building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6089977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500" b="0">
                <a:solidFill>
                  <a:srgbClr val="E6EDF7"/>
                </a:solidFill>
                <a:latin typeface="Segoe UI"/>
              </a:rPr>
              <a:t>Choose a local model (LM Studio, Ollama) or a cloud provider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500" b="0">
                <a:solidFill>
                  <a:srgbClr val="E6EDF7"/>
                </a:solidFill>
                <a:latin typeface="Segoe UI"/>
              </a:rPr>
              <a:t>Sensitive data can be restricted to the local model only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500" b="0">
                <a:solidFill>
                  <a:srgbClr val="E6EDF7"/>
                </a:solidFill>
                <a:latin typeface="Segoe UI"/>
              </a:rPr>
              <a:t>Customer personal data is masked before the prompt is sent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500" b="0">
                <a:solidFill>
                  <a:srgbClr val="E6EDF7"/>
                </a:solidFill>
                <a:latin typeface="Segoe UI"/>
              </a:rPr>
              <a:t>Demand forecasting, menu engineering, waste and anomaly analysis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500" b="0">
                <a:solidFill>
                  <a:srgbClr val="E6EDF7"/>
                </a:solidFill>
                <a:latin typeface="Segoe UI"/>
              </a:rPr>
              <a:t>A daily management summary: what went well, what needs attention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14105" y="1435608"/>
            <a:ext cx="4419221" cy="2834640"/>
          </a:xfrm>
          <a:prstGeom prst="roundRect">
            <a:avLst>
              <a:gd name="adj" fmla="val 6000"/>
            </a:avLst>
          </a:prstGeom>
          <a:solidFill>
            <a:srgbClr val="111C2E"/>
          </a:solidFill>
          <a:ln w="9525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tIns="219456" rIns="201168"/>
          <a:lstStyle/>
          <a:p>
            <a:pPr algn="ctr"/>
            <a:r>
              <a:rPr sz="1200" b="1">
                <a:solidFill>
                  <a:srgbClr val="F97316"/>
                </a:solidFill>
                <a:latin typeface="Segoe UI"/>
              </a:rPr>
              <a:t>A FORECAST IS NOT A CERTAINTY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E6EDF7"/>
                </a:solidFill>
                <a:latin typeface="Segoe UI"/>
              </a:rPr>
              <a:t>Every AI output is shown with its confidence level, the amount of data behind it and its limitations. A budget cap can be set; local models are free and are not charged against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8FA3BF"/>
                </a:solidFill>
                <a:latin typeface="Segoe UI"/>
              </a:rPr>
              <a:t>Smart Restaurant Management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FA3BF"/>
                </a:solidFill>
                <a:latin typeface="Segoe UI"/>
              </a:rPr>
              <a:t>18 /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Segoe UI"/>
              </a:rPr>
              <a:t>Data safety and backups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6089977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500" b="0">
                <a:solidFill>
                  <a:srgbClr val="E6EDF7"/>
                </a:solidFill>
                <a:latin typeface="Segoe UI"/>
              </a:rPr>
              <a:t>One-click backup from inside the app: database, files and a portable dump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500" b="0">
                <a:solidFill>
                  <a:srgbClr val="E6EDF7"/>
                </a:solidFill>
                <a:latin typeface="Segoe UI"/>
              </a:rPr>
              <a:t>A consistent snapshot even while the system is running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500" b="0">
                <a:solidFill>
                  <a:srgbClr val="E6EDF7"/>
                </a:solidFill>
                <a:latin typeface="Segoe UI"/>
              </a:rPr>
              <a:t>Integrity verification with SHA-256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500" b="0">
                <a:solidFill>
                  <a:srgbClr val="E6EDF7"/>
                </a:solidFill>
                <a:latin typeface="Segoe UI"/>
              </a:rPr>
              <a:t>An automatic safety backup before any restore; a confirmation phrase is required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500" b="0">
                <a:solidFill>
                  <a:srgbClr val="E6EDF7"/>
                </a:solidFill>
                <a:latin typeface="Segoe UI"/>
              </a:rPr>
              <a:t>Optional scheduled automatic backups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14105" y="1435608"/>
            <a:ext cx="4419221" cy="2834640"/>
          </a:xfrm>
          <a:prstGeom prst="roundRect">
            <a:avLst>
              <a:gd name="adj" fmla="val 6000"/>
            </a:avLst>
          </a:prstGeom>
          <a:solidFill>
            <a:srgbClr val="111C2E"/>
          </a:solidFill>
          <a:ln w="9525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tIns="219456" rIns="201168"/>
          <a:lstStyle/>
          <a:p>
            <a:pPr algn="ctr"/>
            <a:r>
              <a:rPr sz="1200" b="1">
                <a:solidFill>
                  <a:srgbClr val="F97316"/>
                </a:solidFill>
                <a:latin typeface="Segoe UI"/>
              </a:rPr>
              <a:t>API KEYS STAY OUT OF THE BACKUP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E6EDF7"/>
                </a:solidFill>
                <a:latin typeface="Segoe UI"/>
              </a:rPr>
              <a:t>Backup archives usually travel by email or cloud storage. Keys are excluded by default so they cannot leak that way; they can be included explicitly, and the archive is then marked.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8FA3BF"/>
                </a:solidFill>
                <a:latin typeface="Segoe UI"/>
              </a:rPr>
              <a:t>Smart Restaurant Management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FA3BF"/>
                </a:solidFill>
                <a:latin typeface="Segoe UI"/>
              </a:rPr>
              <a:t>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Segoe UI"/>
              </a:rPr>
              <a:t>Who sees what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8FA3BF"/>
                </a:solidFill>
                <a:latin typeface="Segoe UI"/>
              </a:rPr>
              <a:t>Permissions are role-based; the menu shows only the sections you can actually use.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2148840"/>
          <a:ext cx="1087495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4986"/>
                <a:gridCol w="3624986"/>
                <a:gridCol w="3624987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Role</a:t>
                      </a:r>
                    </a:p>
                  </a:txBody>
                  <a:tcPr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What they see</a:t>
                      </a:r>
                    </a:p>
                  </a:txBody>
                  <a:tcPr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Requires approval</a:t>
                      </a:r>
                    </a:p>
                  </a:txBody>
                  <a:tcPr>
                    <a:solidFill>
                      <a:srgbClr val="1F6F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6EDF7"/>
                          </a:solidFill>
                          <a:latin typeface="Segoe UI"/>
                        </a:rPr>
                        <a:t>Server</a:t>
                      </a:r>
                    </a:p>
                  </a:txBody>
                  <a:tcPr>
                    <a:solidFill>
                      <a:srgbClr val="11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6EDF7"/>
                          </a:solidFill>
                          <a:latin typeface="Segoe UI"/>
                        </a:rPr>
                        <a:t>POS, tables, their own orders</a:t>
                      </a:r>
                    </a:p>
                  </a:txBody>
                  <a:tcPr>
                    <a:solidFill>
                      <a:srgbClr val="11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6EDF7"/>
                          </a:solidFill>
                          <a:latin typeface="Segoe UI"/>
                        </a:rPr>
                        <a:t>Voids, discounts</a:t>
                      </a:r>
                    </a:p>
                  </a:txBody>
                  <a:tcPr>
                    <a:solidFill>
                      <a:srgbClr val="111C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6EDF7"/>
                          </a:solidFill>
                          <a:latin typeface="Segoe UI"/>
                        </a:rPr>
                        <a:t>Cashier</a:t>
                      </a:r>
                    </a:p>
                  </a:txBody>
                  <a:tcPr>
                    <a:solidFill>
                      <a:srgbClr val="11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6EDF7"/>
                          </a:solidFill>
                          <a:latin typeface="Segoe UI"/>
                        </a:rPr>
                        <a:t>POS, payment, till, basic reports</a:t>
                      </a:r>
                    </a:p>
                  </a:txBody>
                  <a:tcPr>
                    <a:solidFill>
                      <a:srgbClr val="11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6EDF7"/>
                          </a:solidFill>
                          <a:latin typeface="Segoe UI"/>
                        </a:rPr>
                        <a:t>Refunds, price overrides</a:t>
                      </a:r>
                    </a:p>
                  </a:txBody>
                  <a:tcPr>
                    <a:solidFill>
                      <a:srgbClr val="111C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6EDF7"/>
                          </a:solidFill>
                          <a:latin typeface="Segoe UI"/>
                        </a:rPr>
                        <a:t>Chef</a:t>
                      </a:r>
                    </a:p>
                  </a:txBody>
                  <a:tcPr>
                    <a:solidFill>
                      <a:srgbClr val="11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6EDF7"/>
                          </a:solidFill>
                          <a:latin typeface="Segoe UI"/>
                        </a:rPr>
                        <a:t>Kitchen, menu, recipes, stock</a:t>
                      </a:r>
                    </a:p>
                  </a:txBody>
                  <a:tcPr>
                    <a:solidFill>
                      <a:srgbClr val="11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6EDF7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>
                    <a:solidFill>
                      <a:srgbClr val="111C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6EDF7"/>
                          </a:solidFill>
                          <a:latin typeface="Segoe UI"/>
                        </a:rPr>
                        <a:t>Storekeeper</a:t>
                      </a:r>
                    </a:p>
                  </a:txBody>
                  <a:tcPr>
                    <a:solidFill>
                      <a:srgbClr val="11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6EDF7"/>
                          </a:solidFill>
                          <a:latin typeface="Segoe UI"/>
                        </a:rPr>
                        <a:t>Stock, counts, purchasing, suppliers</a:t>
                      </a:r>
                    </a:p>
                  </a:txBody>
                  <a:tcPr>
                    <a:solidFill>
                      <a:srgbClr val="11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6EDF7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>
                    <a:solidFill>
                      <a:srgbClr val="111C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6EDF7"/>
                          </a:solidFill>
                          <a:latin typeface="Segoe UI"/>
                        </a:rPr>
                        <a:t>Manager</a:t>
                      </a:r>
                    </a:p>
                  </a:txBody>
                  <a:tcPr>
                    <a:solidFill>
                      <a:srgbClr val="11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6EDF7"/>
                          </a:solidFill>
                          <a:latin typeface="Segoe UI"/>
                        </a:rPr>
                        <a:t>Everything + financial reports + backups</a:t>
                      </a:r>
                    </a:p>
                  </a:txBody>
                  <a:tcPr>
                    <a:solidFill>
                      <a:srgbClr val="11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6EDF7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>
                    <a:solidFill>
                      <a:srgbClr val="111C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6EDF7"/>
                          </a:solidFill>
                          <a:latin typeface="Segoe UI"/>
                        </a:rPr>
                        <a:t>Owner</a:t>
                      </a:r>
                    </a:p>
                  </a:txBody>
                  <a:tcPr>
                    <a:solidFill>
                      <a:srgbClr val="11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6EDF7"/>
                          </a:solidFill>
                          <a:latin typeface="Segoe UI"/>
                        </a:rPr>
                        <a:t>Everything + restore + users</a:t>
                      </a:r>
                    </a:p>
                  </a:txBody>
                  <a:tcPr>
                    <a:solidFill>
                      <a:srgbClr val="111C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6EDF7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>
                    <a:solidFill>
                      <a:srgbClr val="111C2E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8FA3BF"/>
                </a:solidFill>
                <a:latin typeface="Segoe UI"/>
              </a:rPr>
              <a:t>Smart Restaurant Management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FA3BF"/>
                </a:solidFill>
                <a:latin typeface="Segoe UI"/>
              </a:rPr>
              <a:t>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Segoe UI"/>
              </a:rPr>
              <a:t>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8FA3BF"/>
                </a:solidFill>
                <a:latin typeface="Segoe UI"/>
              </a:rPr>
              <a:t>Restaurant data means customer personal data. The system treats it that way.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48840"/>
            <a:ext cx="10874959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100"/>
              </a:spcAft>
            </a:pPr>
            <a:r>
              <a:rPr sz="16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600" b="0">
                <a:solidFill>
                  <a:srgbClr val="E6EDF7"/>
                </a:solidFill>
                <a:latin typeface="Segoe UI"/>
              </a:rPr>
              <a:t>Role-based permissions, with per-user grants and revocations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600" b="0">
                <a:solidFill>
                  <a:srgbClr val="E6EDF7"/>
                </a:solidFill>
                <a:latin typeface="Segoe UI"/>
              </a:rPr>
              <a:t>Manager PIN approval for voids, refunds and discounts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600" b="0">
                <a:solidFill>
                  <a:srgbClr val="E6EDF7"/>
                </a:solidFill>
                <a:latin typeface="Segoe UI"/>
              </a:rPr>
              <a:t>An immutable audit log: who, when, what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600" b="0">
                <a:solidFill>
                  <a:srgbClr val="E6EDF7"/>
                </a:solidFill>
                <a:latin typeface="Segoe UI"/>
              </a:rPr>
              <a:t>Account lockout after five failed sign-ins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600" b="0">
                <a:solidFill>
                  <a:srgbClr val="E6EDF7"/>
                </a:solidFill>
                <a:latin typeface="Segoe UI"/>
              </a:rPr>
              <a:t>Customer phone and email are masked for users without the permission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600" b="0">
                <a:solidFill>
                  <a:srgbClr val="E6EDF7"/>
                </a:solidFill>
                <a:latin typeface="Segoe UI"/>
              </a:rPr>
              <a:t>Data erasure and anonymisation for data-protection requests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8FA3BF"/>
                </a:solidFill>
                <a:latin typeface="Segoe UI"/>
              </a:rPr>
              <a:t>Smart Restaurant Management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FA3BF"/>
                </a:solidFill>
                <a:latin typeface="Segoe UI"/>
              </a:rPr>
              <a:t>21 /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Segoe UI"/>
              </a:rPr>
              <a:t>Setup and 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6089977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500" b="0">
                <a:solidFill>
                  <a:srgbClr val="E6EDF7"/>
                </a:solidFill>
                <a:latin typeface="Segoe UI"/>
              </a:rPr>
              <a:t>A single-file application (~57 MB) — no Python installation needed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500" b="0">
                <a:solidFill>
                  <a:srgbClr val="E6EDF7"/>
                </a:solidFill>
                <a:latin typeface="Segoe UI"/>
              </a:rPr>
              <a:t>Windows 10/11 (x64) &amp; macOS (Apple Silicon) — Download: GitHub Releases (v1.0.0)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500" b="0">
                <a:solidFill>
                  <a:srgbClr val="E6EDF7"/>
                </a:solidFill>
                <a:latin typeface="Segoe UI"/>
              </a:rPr>
              <a:t>The macOS package targets Apple Silicon (arm64) and is not notarized (first launch: right-click -&gt; Open)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500" b="0">
                <a:solidFill>
                  <a:srgbClr val="E6EDF7"/>
                </a:solidFill>
                <a:latin typeface="Segoe UI"/>
              </a:rPr>
              <a:t>Double-click it; on first run it offers to try the system with demo data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500" b="0">
                <a:solidFill>
                  <a:srgbClr val="E6EDF7"/>
                </a:solidFill>
                <a:latin typeface="Segoe UI"/>
              </a:rPr>
              <a:t>Database, files and logs live in the folder next to the program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500" b="0">
                <a:solidFill>
                  <a:srgbClr val="E6EDF7"/>
                </a:solidFill>
                <a:latin typeface="Segoe UI"/>
              </a:rPr>
              <a:t>No internet required; cloud AI is optional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500" b="0">
                <a:solidFill>
                  <a:srgbClr val="E6EDF7"/>
                </a:solidFill>
                <a:latin typeface="Segoe UI"/>
              </a:rPr>
              <a:t>PostgreSQL and Docker support for those who want a server setup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14105" y="1435608"/>
            <a:ext cx="4419221" cy="2834640"/>
          </a:xfrm>
          <a:prstGeom prst="roundRect">
            <a:avLst>
              <a:gd name="adj" fmla="val 6000"/>
            </a:avLst>
          </a:prstGeom>
          <a:solidFill>
            <a:srgbClr val="111C2E"/>
          </a:solidFill>
          <a:ln w="9525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tIns="219456" rIns="201168"/>
          <a:lstStyle/>
          <a:p>
            <a:pPr algn="ctr"/>
            <a:r>
              <a:rPr sz="1200" b="1">
                <a:solidFill>
                  <a:srgbClr val="F97316"/>
                </a:solidFill>
                <a:latin typeface="Segoe UI"/>
              </a:rPr>
              <a:t>LEARNING CURVE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E6EDF7"/>
                </a:solidFill>
                <a:latin typeface="Segoe UI"/>
              </a:rPr>
              <a:t>The application contains a built-in guide of eight lessons. Lessons are filtered by role; a server is not shown the backup lesson. About 38 minutes in total.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8FA3BF"/>
                </a:solidFill>
                <a:latin typeface="Segoe UI"/>
              </a:rPr>
              <a:t>Smart Restaurant Management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FA3BF"/>
                </a:solidFill>
                <a:latin typeface="Segoe UI"/>
              </a:rPr>
              <a:t>22 /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Segoe UI"/>
              </a:rPr>
              <a:t>Technical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8FA3BF"/>
                </a:solidFill>
                <a:latin typeface="Segoe UI"/>
              </a:rPr>
              <a:t>Built to last, to be auditable, and to grow.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48840"/>
            <a:ext cx="10874959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100"/>
              </a:spcAft>
            </a:pPr>
            <a:r>
              <a:rPr sz="16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600" b="0">
                <a:solidFill>
                  <a:srgbClr val="E6EDF7"/>
                </a:solidFill>
                <a:latin typeface="Segoe UI"/>
              </a:rPr>
              <a:t>Python 3.11+ and Django 5.2 — mature, documented, widely supported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600" b="0">
                <a:solidFill>
                  <a:srgbClr val="E6EDF7"/>
                </a:solidFill>
                <a:latin typeface="Segoe UI"/>
              </a:rPr>
              <a:t>WebSockets for the kitchen display (Django Channels, Daphne)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600" b="0">
                <a:solidFill>
                  <a:srgbClr val="E6EDF7"/>
                </a:solidFill>
                <a:latin typeface="Segoe UI"/>
              </a:rPr>
              <a:t>SQLite on a single machine; PostgreSQL for multi-terminal setups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600" b="0">
                <a:solidFill>
                  <a:srgbClr val="E6EDF7"/>
                </a:solidFill>
                <a:latin typeface="Segoe UI"/>
              </a:rPr>
              <a:t>486 automated tests; linter, formatter and security scan on every release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600" b="0">
                <a:solidFill>
                  <a:srgbClr val="E6EDF7"/>
                </a:solidFill>
                <a:latin typeface="Segoe UI"/>
              </a:rPr>
              <a:t>Dependency vulnerability and secret scanning required before publishing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1F6FEB"/>
                </a:solidFill>
                <a:latin typeface="Segoe UI"/>
              </a:rPr>
              <a:t>▪  </a:t>
            </a:r>
            <a:r>
              <a:rPr sz="1600" b="0">
                <a:solidFill>
                  <a:srgbClr val="E6EDF7"/>
                </a:solidFill>
                <a:latin typeface="Segoe UI"/>
              </a:rPr>
              <a:t>All settings come from the environment; no secret lives in the source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8FA3BF"/>
                </a:solidFill>
                <a:latin typeface="Segoe UI"/>
              </a:rPr>
              <a:t>Smart Restaurant Management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FA3BF"/>
                </a:solidFill>
                <a:latin typeface="Segoe UI"/>
              </a:rPr>
              <a:t>23 /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Segoe UI"/>
              </a:rPr>
              <a:t>Fiscal compliance notice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37360"/>
            <a:ext cx="10874959" cy="3566160"/>
          </a:xfrm>
          <a:prstGeom prst="roundRect">
            <a:avLst>
              <a:gd name="adj" fmla="val 6000"/>
            </a:avLst>
          </a:prstGeom>
          <a:solidFill>
            <a:srgbClr val="111C2E"/>
          </a:solidFill>
          <a:ln w="9525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29184" rIns="365760"/>
          <a:lstStyle/>
          <a:p>
            <a:pPr algn="ctr"/>
            <a:r>
              <a:rPr sz="1700" b="0">
                <a:solidFill>
                  <a:srgbClr val="FFFFFF"/>
                </a:solidFill>
                <a:latin typeface="Segoe UI"/>
              </a:rPr>
              <a:t>The receipts, checks and daily reports this system produces are </a:t>
            </a:r>
            <a:r>
              <a:rPr sz="1700" b="1">
                <a:solidFill>
                  <a:srgbClr val="F97316"/>
                </a:solidFill>
                <a:latin typeface="Segoe UI"/>
              </a:rPr>
              <a:t>for internal information and do not replace legal fiscal documents.</a:t>
            </a:r>
          </a:p>
          <a:p>
            <a:pPr>
              <a:spcBef>
                <a:spcPts val="1200"/>
              </a:spcBef>
            </a:pPr>
            <a:r>
              <a:rPr sz="1300" b="1">
                <a:solidFill>
                  <a:srgbClr val="F97316"/>
                </a:solidFill>
                <a:latin typeface="Segoe UI"/>
              </a:rPr>
              <a:t>▪  </a:t>
            </a:r>
            <a:r>
              <a:rPr sz="1300" b="0">
                <a:solidFill>
                  <a:srgbClr val="8FA3BF"/>
                </a:solidFill>
                <a:latin typeface="Segoe UI"/>
              </a:rPr>
              <a:t>A legal Z report must be produced by a certified fiscal device.</a:t>
            </a:r>
          </a:p>
          <a:p>
            <a:pPr>
              <a:spcBef>
                <a:spcPts val="1200"/>
              </a:spcBef>
            </a:pPr>
            <a:r>
              <a:rPr sz="1300" b="1">
                <a:solidFill>
                  <a:srgbClr val="F97316"/>
                </a:solidFill>
                <a:latin typeface="Segoe UI"/>
              </a:rPr>
              <a:t>▪  </a:t>
            </a:r>
            <a:r>
              <a:rPr sz="1300" b="0">
                <a:solidFill>
                  <a:srgbClr val="8FA3BF"/>
                </a:solidFill>
                <a:latin typeface="Segoe UI"/>
              </a:rPr>
              <a:t>Electronic invoices must be issued through an authorised integrator.</a:t>
            </a:r>
          </a:p>
          <a:p>
            <a:pPr>
              <a:spcBef>
                <a:spcPts val="1200"/>
              </a:spcBef>
            </a:pPr>
            <a:r>
              <a:rPr sz="1300" b="1">
                <a:solidFill>
                  <a:srgbClr val="F97316"/>
                </a:solidFill>
                <a:latin typeface="Segoe UI"/>
              </a:rPr>
              <a:t>▪  </a:t>
            </a:r>
            <a:r>
              <a:rPr sz="1300" b="0">
                <a:solidFill>
                  <a:srgbClr val="8FA3BF"/>
                </a:solidFill>
                <a:latin typeface="Segoe UI"/>
              </a:rPr>
              <a:t>The system provides interfaces for these integrations; it does not claim to produce fiscal documents.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8FA3BF"/>
                </a:solidFill>
                <a:latin typeface="Segoe UI"/>
              </a:rPr>
              <a:t>Smart Restaurant Management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FA3BF"/>
                </a:solidFill>
                <a:latin typeface="Segoe UI"/>
              </a:rPr>
              <a:t>24 /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Segoe UI"/>
              </a:rPr>
              <a:t>Quality measures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8FA3BF"/>
                </a:solidFill>
                <a:latin typeface="Segoe UI"/>
              </a:rPr>
              <a:t>Verified automatically before every release.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2554147" cy="2148840"/>
          </a:xfrm>
          <a:prstGeom prst="roundRect">
            <a:avLst>
              <a:gd name="adj" fmla="val 6000"/>
            </a:avLst>
          </a:prstGeom>
          <a:solidFill>
            <a:srgbClr val="111C2E"/>
          </a:solidFill>
          <a:ln w="9525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237744" rIns="164592"/>
          <a:lstStyle/>
          <a:p>
            <a:pPr algn="ctr"/>
            <a:r>
              <a:rPr sz="4000" b="1">
                <a:solidFill>
                  <a:srgbClr val="1F6FEB"/>
                </a:solidFill>
                <a:latin typeface="Segoe UI"/>
              </a:rPr>
              <a:t>486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FFFFFF"/>
                </a:solidFill>
                <a:latin typeface="Segoe UI"/>
              </a:rPr>
              <a:t>tests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8FA3BF"/>
                </a:solidFill>
                <a:latin typeface="Segoe UI"/>
              </a:rPr>
              <a:t>unit, integration, permissions, security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31971" y="2148840"/>
            <a:ext cx="2554147" cy="2148840"/>
          </a:xfrm>
          <a:prstGeom prst="roundRect">
            <a:avLst>
              <a:gd name="adj" fmla="val 6000"/>
            </a:avLst>
          </a:prstGeom>
          <a:solidFill>
            <a:srgbClr val="111C2E"/>
          </a:solidFill>
          <a:ln w="9525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237744" rIns="164592"/>
          <a:lstStyle/>
          <a:p>
            <a:pPr algn="ctr"/>
            <a:r>
              <a:rPr sz="4000" b="1">
                <a:solidFill>
                  <a:srgbClr val="1F6FEB"/>
                </a:solidFill>
                <a:latin typeface="Segoe UI"/>
              </a:rPr>
              <a:t>pip-audit + osv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FFFFFF"/>
                </a:solidFill>
                <a:latin typeface="Segoe UI"/>
              </a:rPr>
              <a:t>dependency scan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8FA3BF"/>
                </a:solidFill>
                <a:latin typeface="Segoe UI"/>
              </a:rPr>
              <a:t>run before every release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05575" y="2148840"/>
            <a:ext cx="2554147" cy="2148840"/>
          </a:xfrm>
          <a:prstGeom prst="roundRect">
            <a:avLst>
              <a:gd name="adj" fmla="val 6000"/>
            </a:avLst>
          </a:prstGeom>
          <a:solidFill>
            <a:srgbClr val="111C2E"/>
          </a:solidFill>
          <a:ln w="9525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237744" rIns="164592"/>
          <a:lstStyle/>
          <a:p>
            <a:pPr algn="ctr"/>
            <a:r>
              <a:rPr sz="4000" b="1">
                <a:solidFill>
                  <a:srgbClr val="1F6FEB"/>
                </a:solidFill>
                <a:latin typeface="Segoe UI"/>
              </a:rPr>
              <a:t>1,764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FFFFFF"/>
                </a:solidFill>
                <a:latin typeface="Segoe UI"/>
              </a:rPr>
              <a:t>translated strings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8FA3BF"/>
                </a:solidFill>
                <a:latin typeface="Segoe UI"/>
              </a:rPr>
              <a:t>Turkish / English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79179" y="2148840"/>
            <a:ext cx="2554147" cy="2148840"/>
          </a:xfrm>
          <a:prstGeom prst="roundRect">
            <a:avLst>
              <a:gd name="adj" fmla="val 6000"/>
            </a:avLst>
          </a:prstGeom>
          <a:solidFill>
            <a:srgbClr val="111C2E"/>
          </a:solidFill>
          <a:ln w="9525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237744" rIns="164592"/>
          <a:lstStyle/>
          <a:p>
            <a:pPr algn="ctr"/>
            <a:r>
              <a:rPr sz="4000" b="1">
                <a:solidFill>
                  <a:srgbClr val="1F6FEB"/>
                </a:solidFill>
                <a:latin typeface="Segoe UI"/>
              </a:rPr>
              <a:t>gitleaks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FFFFFF"/>
                </a:solidFill>
                <a:latin typeface="Segoe UI"/>
              </a:rPr>
              <a:t>secret scan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8FA3BF"/>
                </a:solidFill>
                <a:latin typeface="Segoe UI"/>
              </a:rPr>
              <a:t>run before every commit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8FA3BF"/>
                </a:solidFill>
                <a:latin typeface="Segoe UI"/>
              </a:rPr>
              <a:t>Smart Restaurant Management 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FA3BF"/>
                </a:solidFill>
                <a:latin typeface="Segoe UI"/>
              </a:rPr>
              <a:t>25 /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812280"/>
            <a:ext cx="12191695" cy="45720"/>
          </a:xfrm>
          <a:prstGeom prst="roundRect">
            <a:avLst>
              <a:gd name="adj" fmla="val 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Segoe UI"/>
              </a:rPr>
              <a:t>Ready to 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35608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8FA3BF"/>
                </a:solidFill>
                <a:latin typeface="Segoe UI"/>
              </a:rPr>
              <a:t>The program runs as a single file and opens with a restaurant already full of sample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48840"/>
            <a:ext cx="10874959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1F6FEB"/>
                </a:solidFill>
                <a:latin typeface="Segoe UI"/>
              </a:rPr>
              <a:t>1.  </a:t>
            </a:r>
            <a:r>
              <a:rPr sz="1700" b="0">
                <a:solidFill>
                  <a:srgbClr val="E6EDF7"/>
                </a:solidFill>
                <a:latin typeface="Segoe UI"/>
              </a:rPr>
              <a:t>Put the application in an empty folder and double-click it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1F6FEB"/>
                </a:solidFill>
                <a:latin typeface="Segoe UI"/>
              </a:rPr>
              <a:t>2.  </a:t>
            </a:r>
            <a:r>
              <a:rPr sz="1700" b="0">
                <a:solidFill>
                  <a:srgbClr val="E6EDF7"/>
                </a:solidFill>
                <a:latin typeface="Segoe UI"/>
              </a:rPr>
              <a:t>Choose "Try with sample data"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1F6FEB"/>
                </a:solidFill>
                <a:latin typeface="Segoe UI"/>
              </a:rPr>
              <a:t>3.  </a:t>
            </a:r>
            <a:r>
              <a:rPr sz="1700" b="0">
                <a:solidFill>
                  <a:srgbClr val="E6EDF7"/>
                </a:solidFill>
                <a:latin typeface="Segoe UI"/>
              </a:rPr>
              <a:t>The sample-data step prints the usernames and a one-time random password for that install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1F6FEB"/>
                </a:solidFill>
                <a:latin typeface="Segoe UI"/>
              </a:rPr>
              <a:t>4.  </a:t>
            </a:r>
            <a:r>
              <a:rPr sz="1700" b="0">
                <a:solidFill>
                  <a:srgbClr val="E6EDF7"/>
                </a:solidFill>
                <a:latin typeface="Segoe UI"/>
              </a:rPr>
              <a:t>Reach the user guide from the ? button in the top bar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394960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>
                <a:solidFill>
                  <a:srgbClr val="8FA3BF"/>
                </a:solidFill>
                <a:latin typeface="Segoe UI"/>
              </a:rPr>
              <a:t>Clear the sample data and create your own users before going live.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345936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8FA3BF"/>
                </a:solidFill>
                <a:latin typeface="Segoe UI"/>
              </a:rPr>
              <a:t>Smart Restaurant Management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FA3BF"/>
                </a:solidFill>
                <a:latin typeface="Segoe UI"/>
              </a:rPr>
              <a:t>26 / 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